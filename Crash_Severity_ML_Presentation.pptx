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74" r:id="rId9"/>
    <p:sldId id="275" r:id="rId10"/>
    <p:sldId id="280" r:id="rId11"/>
    <p:sldId id="276" r:id="rId12"/>
    <p:sldId id="268" r:id="rId13"/>
    <p:sldId id="277" r:id="rId14"/>
    <p:sldId id="270" r:id="rId15"/>
    <p:sldId id="279" r:id="rId16"/>
    <p:sldId id="278"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818" autoAdjust="0"/>
  </p:normalViewPr>
  <p:slideViewPr>
    <p:cSldViewPr snapToGrid="0" snapToObjects="1">
      <p:cViewPr varScale="1">
        <p:scale>
          <a:sx n="75" d="100"/>
          <a:sy n="75" d="100"/>
        </p:scale>
        <p:origin x="2634" y="29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7EDF25-B589-449D-9060-9CEA44FA93CC}"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DE389020-8124-45DD-AF7C-3E1B3E376A00}">
      <dgm:prSet/>
      <dgm:spPr/>
      <dgm:t>
        <a:bodyPr/>
        <a:lstStyle/>
        <a:p>
          <a:r>
            <a:rPr lang="en-US" dirty="0"/>
            <a:t>Road crashes impose major social and economic costs in NZ.</a:t>
          </a:r>
        </a:p>
      </dgm:t>
    </dgm:pt>
    <dgm:pt modelId="{46F7FCA3-9DB3-497C-8A44-2D46B5E64BB5}" type="parTrans" cxnId="{C429D2C3-ACD9-422F-A7F4-47EB0A49EFE7}">
      <dgm:prSet/>
      <dgm:spPr/>
      <dgm:t>
        <a:bodyPr/>
        <a:lstStyle/>
        <a:p>
          <a:endParaRPr lang="en-US"/>
        </a:p>
      </dgm:t>
    </dgm:pt>
    <dgm:pt modelId="{27D2E657-A5B8-4DAA-B4F3-BD8C837965B2}" type="sibTrans" cxnId="{C429D2C3-ACD9-422F-A7F4-47EB0A49EFE7}">
      <dgm:prSet/>
      <dgm:spPr/>
      <dgm:t>
        <a:bodyPr/>
        <a:lstStyle/>
        <a:p>
          <a:endParaRPr lang="en-US"/>
        </a:p>
      </dgm:t>
    </dgm:pt>
    <dgm:pt modelId="{B670A682-BB78-4313-B10C-AB2458475FAA}">
      <dgm:prSet/>
      <dgm:spPr/>
      <dgm:t>
        <a:bodyPr/>
        <a:lstStyle/>
        <a:p>
          <a:r>
            <a:rPr lang="en-US"/>
            <a:t>Agencies need to understand which conditions lead to severe crashes.</a:t>
          </a:r>
        </a:p>
      </dgm:t>
    </dgm:pt>
    <dgm:pt modelId="{1375305C-557A-417B-AB2D-8C3B6BDE449B}" type="parTrans" cxnId="{062389ED-68F7-4C05-9BF9-F4E8573394B8}">
      <dgm:prSet/>
      <dgm:spPr/>
      <dgm:t>
        <a:bodyPr/>
        <a:lstStyle/>
        <a:p>
          <a:endParaRPr lang="en-US"/>
        </a:p>
      </dgm:t>
    </dgm:pt>
    <dgm:pt modelId="{A69539CE-7ECF-4088-8984-09CBDA6F7381}" type="sibTrans" cxnId="{062389ED-68F7-4C05-9BF9-F4E8573394B8}">
      <dgm:prSet/>
      <dgm:spPr/>
      <dgm:t>
        <a:bodyPr/>
        <a:lstStyle/>
        <a:p>
          <a:endParaRPr lang="en-US"/>
        </a:p>
      </dgm:t>
    </dgm:pt>
    <dgm:pt modelId="{26EAADFE-90CA-40A1-9173-AF0D09A3E85D}">
      <dgm:prSet/>
      <dgm:spPr/>
      <dgm:t>
        <a:bodyPr/>
        <a:lstStyle/>
        <a:p>
          <a:r>
            <a:rPr lang="en-US"/>
            <a:t>Machine learning can uncover patterns not obvious from raw data.</a:t>
          </a:r>
        </a:p>
      </dgm:t>
    </dgm:pt>
    <dgm:pt modelId="{78597E75-BD2D-4DF9-9895-84A5AD309E6C}" type="parTrans" cxnId="{2A468671-BFFC-4B92-BF55-CBB4F9BBA3DA}">
      <dgm:prSet/>
      <dgm:spPr/>
      <dgm:t>
        <a:bodyPr/>
        <a:lstStyle/>
        <a:p>
          <a:endParaRPr lang="en-US"/>
        </a:p>
      </dgm:t>
    </dgm:pt>
    <dgm:pt modelId="{BCE72B9B-EBBB-441E-8C41-8B7674BBF6BF}" type="sibTrans" cxnId="{2A468671-BFFC-4B92-BF55-CBB4F9BBA3DA}">
      <dgm:prSet/>
      <dgm:spPr/>
      <dgm:t>
        <a:bodyPr/>
        <a:lstStyle/>
        <a:p>
          <a:endParaRPr lang="en-US"/>
        </a:p>
      </dgm:t>
    </dgm:pt>
    <dgm:pt modelId="{68247726-C438-4A45-84D8-67BC31B62C13}" type="pres">
      <dgm:prSet presAssocID="{2A7EDF25-B589-449D-9060-9CEA44FA93CC}" presName="root" presStyleCnt="0">
        <dgm:presLayoutVars>
          <dgm:dir/>
          <dgm:resizeHandles val="exact"/>
        </dgm:presLayoutVars>
      </dgm:prSet>
      <dgm:spPr/>
    </dgm:pt>
    <dgm:pt modelId="{ED2B4718-A504-449C-93DB-FCA8D50D4FE0}" type="pres">
      <dgm:prSet presAssocID="{DE389020-8124-45DD-AF7C-3E1B3E376A00}" presName="compNode" presStyleCnt="0"/>
      <dgm:spPr/>
    </dgm:pt>
    <dgm:pt modelId="{D4350222-FF9F-4CEC-AD7F-0440BFB86559}" type="pres">
      <dgm:prSet presAssocID="{DE389020-8124-45DD-AF7C-3E1B3E376A0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ooter"/>
        </a:ext>
      </dgm:extLst>
    </dgm:pt>
    <dgm:pt modelId="{70CEFF18-7B1F-4454-BF93-A37E26ADC3E8}" type="pres">
      <dgm:prSet presAssocID="{DE389020-8124-45DD-AF7C-3E1B3E376A00}" presName="spaceRect" presStyleCnt="0"/>
      <dgm:spPr/>
    </dgm:pt>
    <dgm:pt modelId="{50232408-E270-4004-B5D3-7C8577DF6DE7}" type="pres">
      <dgm:prSet presAssocID="{DE389020-8124-45DD-AF7C-3E1B3E376A00}" presName="textRect" presStyleLbl="revTx" presStyleIdx="0" presStyleCnt="3">
        <dgm:presLayoutVars>
          <dgm:chMax val="1"/>
          <dgm:chPref val="1"/>
        </dgm:presLayoutVars>
      </dgm:prSet>
      <dgm:spPr/>
    </dgm:pt>
    <dgm:pt modelId="{FD9A1A04-95EC-44AD-B419-13E9E8FEDF14}" type="pres">
      <dgm:prSet presAssocID="{27D2E657-A5B8-4DAA-B4F3-BD8C837965B2}" presName="sibTrans" presStyleCnt="0"/>
      <dgm:spPr/>
    </dgm:pt>
    <dgm:pt modelId="{D57D98EA-FE01-4D8C-995F-C2D7204500B9}" type="pres">
      <dgm:prSet presAssocID="{B670A682-BB78-4313-B10C-AB2458475FAA}" presName="compNode" presStyleCnt="0"/>
      <dgm:spPr/>
    </dgm:pt>
    <dgm:pt modelId="{004FDF01-A69E-45CA-918B-965AAD57100D}" type="pres">
      <dgm:prSet presAssocID="{B670A682-BB78-4313-B10C-AB2458475FA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peed Bump"/>
        </a:ext>
      </dgm:extLst>
    </dgm:pt>
    <dgm:pt modelId="{F0F35A61-C3E5-4AAC-A7D8-2ECB0E34BCC4}" type="pres">
      <dgm:prSet presAssocID="{B670A682-BB78-4313-B10C-AB2458475FAA}" presName="spaceRect" presStyleCnt="0"/>
      <dgm:spPr/>
    </dgm:pt>
    <dgm:pt modelId="{84C9E251-E9B9-4609-B022-CA6D307541DF}" type="pres">
      <dgm:prSet presAssocID="{B670A682-BB78-4313-B10C-AB2458475FAA}" presName="textRect" presStyleLbl="revTx" presStyleIdx="1" presStyleCnt="3">
        <dgm:presLayoutVars>
          <dgm:chMax val="1"/>
          <dgm:chPref val="1"/>
        </dgm:presLayoutVars>
      </dgm:prSet>
      <dgm:spPr/>
    </dgm:pt>
    <dgm:pt modelId="{D23B75E9-C544-4E4E-952E-2B8772A69F6D}" type="pres">
      <dgm:prSet presAssocID="{A69539CE-7ECF-4088-8984-09CBDA6F7381}" presName="sibTrans" presStyleCnt="0"/>
      <dgm:spPr/>
    </dgm:pt>
    <dgm:pt modelId="{DA2E521C-2953-4EFA-9B5E-88C03F3F486F}" type="pres">
      <dgm:prSet presAssocID="{26EAADFE-90CA-40A1-9173-AF0D09A3E85D}" presName="compNode" presStyleCnt="0"/>
      <dgm:spPr/>
    </dgm:pt>
    <dgm:pt modelId="{47DACFE2-B05D-4D66-AA69-CDB5A27AFEA2}" type="pres">
      <dgm:prSet presAssocID="{26EAADFE-90CA-40A1-9173-AF0D09A3E85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ze"/>
        </a:ext>
      </dgm:extLst>
    </dgm:pt>
    <dgm:pt modelId="{5194B247-F3E1-4111-AB59-6B6979C49133}" type="pres">
      <dgm:prSet presAssocID="{26EAADFE-90CA-40A1-9173-AF0D09A3E85D}" presName="spaceRect" presStyleCnt="0"/>
      <dgm:spPr/>
    </dgm:pt>
    <dgm:pt modelId="{C88F3182-3AC7-4913-A270-855CBF3DAF1E}" type="pres">
      <dgm:prSet presAssocID="{26EAADFE-90CA-40A1-9173-AF0D09A3E85D}" presName="textRect" presStyleLbl="revTx" presStyleIdx="2" presStyleCnt="3">
        <dgm:presLayoutVars>
          <dgm:chMax val="1"/>
          <dgm:chPref val="1"/>
        </dgm:presLayoutVars>
      </dgm:prSet>
      <dgm:spPr/>
    </dgm:pt>
  </dgm:ptLst>
  <dgm:cxnLst>
    <dgm:cxn modelId="{E8844660-9A79-47B8-B134-A1F58ABB0FFA}" type="presOf" srcId="{DE389020-8124-45DD-AF7C-3E1B3E376A00}" destId="{50232408-E270-4004-B5D3-7C8577DF6DE7}" srcOrd="0" destOrd="0" presId="urn:microsoft.com/office/officeart/2018/2/layout/IconLabelList"/>
    <dgm:cxn modelId="{50C61964-327E-499D-88F3-505DD573BCFC}" type="presOf" srcId="{2A7EDF25-B589-449D-9060-9CEA44FA93CC}" destId="{68247726-C438-4A45-84D8-67BC31B62C13}" srcOrd="0" destOrd="0" presId="urn:microsoft.com/office/officeart/2018/2/layout/IconLabelList"/>
    <dgm:cxn modelId="{2A468671-BFFC-4B92-BF55-CBB4F9BBA3DA}" srcId="{2A7EDF25-B589-449D-9060-9CEA44FA93CC}" destId="{26EAADFE-90CA-40A1-9173-AF0D09A3E85D}" srcOrd="2" destOrd="0" parTransId="{78597E75-BD2D-4DF9-9895-84A5AD309E6C}" sibTransId="{BCE72B9B-EBBB-441E-8C41-8B7674BBF6BF}"/>
    <dgm:cxn modelId="{AA16D790-778E-4678-B648-AA465C64FA84}" type="presOf" srcId="{B670A682-BB78-4313-B10C-AB2458475FAA}" destId="{84C9E251-E9B9-4609-B022-CA6D307541DF}" srcOrd="0" destOrd="0" presId="urn:microsoft.com/office/officeart/2018/2/layout/IconLabelList"/>
    <dgm:cxn modelId="{48BD32A9-1045-4135-834F-0186E81E5799}" type="presOf" srcId="{26EAADFE-90CA-40A1-9173-AF0D09A3E85D}" destId="{C88F3182-3AC7-4913-A270-855CBF3DAF1E}" srcOrd="0" destOrd="0" presId="urn:microsoft.com/office/officeart/2018/2/layout/IconLabelList"/>
    <dgm:cxn modelId="{C429D2C3-ACD9-422F-A7F4-47EB0A49EFE7}" srcId="{2A7EDF25-B589-449D-9060-9CEA44FA93CC}" destId="{DE389020-8124-45DD-AF7C-3E1B3E376A00}" srcOrd="0" destOrd="0" parTransId="{46F7FCA3-9DB3-497C-8A44-2D46B5E64BB5}" sibTransId="{27D2E657-A5B8-4DAA-B4F3-BD8C837965B2}"/>
    <dgm:cxn modelId="{062389ED-68F7-4C05-9BF9-F4E8573394B8}" srcId="{2A7EDF25-B589-449D-9060-9CEA44FA93CC}" destId="{B670A682-BB78-4313-B10C-AB2458475FAA}" srcOrd="1" destOrd="0" parTransId="{1375305C-557A-417B-AB2D-8C3B6BDE449B}" sibTransId="{A69539CE-7ECF-4088-8984-09CBDA6F7381}"/>
    <dgm:cxn modelId="{911743E7-179A-44B8-B112-194D4FD58AB7}" type="presParOf" srcId="{68247726-C438-4A45-84D8-67BC31B62C13}" destId="{ED2B4718-A504-449C-93DB-FCA8D50D4FE0}" srcOrd="0" destOrd="0" presId="urn:microsoft.com/office/officeart/2018/2/layout/IconLabelList"/>
    <dgm:cxn modelId="{D8B3381D-D828-42D0-BB1E-F71AC63A13CB}" type="presParOf" srcId="{ED2B4718-A504-449C-93DB-FCA8D50D4FE0}" destId="{D4350222-FF9F-4CEC-AD7F-0440BFB86559}" srcOrd="0" destOrd="0" presId="urn:microsoft.com/office/officeart/2018/2/layout/IconLabelList"/>
    <dgm:cxn modelId="{362C14AA-439B-4538-B33B-3BC1A11F5B9B}" type="presParOf" srcId="{ED2B4718-A504-449C-93DB-FCA8D50D4FE0}" destId="{70CEFF18-7B1F-4454-BF93-A37E26ADC3E8}" srcOrd="1" destOrd="0" presId="urn:microsoft.com/office/officeart/2018/2/layout/IconLabelList"/>
    <dgm:cxn modelId="{B29CD496-4EE2-46CB-9144-CD81B5D0A806}" type="presParOf" srcId="{ED2B4718-A504-449C-93DB-FCA8D50D4FE0}" destId="{50232408-E270-4004-B5D3-7C8577DF6DE7}" srcOrd="2" destOrd="0" presId="urn:microsoft.com/office/officeart/2018/2/layout/IconLabelList"/>
    <dgm:cxn modelId="{B2AB2B59-A679-483E-9EA0-2D5060C8B04B}" type="presParOf" srcId="{68247726-C438-4A45-84D8-67BC31B62C13}" destId="{FD9A1A04-95EC-44AD-B419-13E9E8FEDF14}" srcOrd="1" destOrd="0" presId="urn:microsoft.com/office/officeart/2018/2/layout/IconLabelList"/>
    <dgm:cxn modelId="{BF9E3FF4-7862-489E-9CA9-EEF175F69854}" type="presParOf" srcId="{68247726-C438-4A45-84D8-67BC31B62C13}" destId="{D57D98EA-FE01-4D8C-995F-C2D7204500B9}" srcOrd="2" destOrd="0" presId="urn:microsoft.com/office/officeart/2018/2/layout/IconLabelList"/>
    <dgm:cxn modelId="{CAB4F845-69ED-441B-8F4A-848CFD8646BB}" type="presParOf" srcId="{D57D98EA-FE01-4D8C-995F-C2D7204500B9}" destId="{004FDF01-A69E-45CA-918B-965AAD57100D}" srcOrd="0" destOrd="0" presId="urn:microsoft.com/office/officeart/2018/2/layout/IconLabelList"/>
    <dgm:cxn modelId="{7C028F1F-960D-4192-B6C9-A6B42ADE3DB2}" type="presParOf" srcId="{D57D98EA-FE01-4D8C-995F-C2D7204500B9}" destId="{F0F35A61-C3E5-4AAC-A7D8-2ECB0E34BCC4}" srcOrd="1" destOrd="0" presId="urn:microsoft.com/office/officeart/2018/2/layout/IconLabelList"/>
    <dgm:cxn modelId="{D63E5363-A994-43D5-81DA-66792CE55E28}" type="presParOf" srcId="{D57D98EA-FE01-4D8C-995F-C2D7204500B9}" destId="{84C9E251-E9B9-4609-B022-CA6D307541DF}" srcOrd="2" destOrd="0" presId="urn:microsoft.com/office/officeart/2018/2/layout/IconLabelList"/>
    <dgm:cxn modelId="{ADCB4C62-56CD-4D33-9EF4-24581194D9EC}" type="presParOf" srcId="{68247726-C438-4A45-84D8-67BC31B62C13}" destId="{D23B75E9-C544-4E4E-952E-2B8772A69F6D}" srcOrd="3" destOrd="0" presId="urn:microsoft.com/office/officeart/2018/2/layout/IconLabelList"/>
    <dgm:cxn modelId="{A8180231-A228-4099-9356-5A003F01A0A6}" type="presParOf" srcId="{68247726-C438-4A45-84D8-67BC31B62C13}" destId="{DA2E521C-2953-4EFA-9B5E-88C03F3F486F}" srcOrd="4" destOrd="0" presId="urn:microsoft.com/office/officeart/2018/2/layout/IconLabelList"/>
    <dgm:cxn modelId="{7A8375DC-76ED-4AEC-9C72-2A189418C1CD}" type="presParOf" srcId="{DA2E521C-2953-4EFA-9B5E-88C03F3F486F}" destId="{47DACFE2-B05D-4D66-AA69-CDB5A27AFEA2}" srcOrd="0" destOrd="0" presId="urn:microsoft.com/office/officeart/2018/2/layout/IconLabelList"/>
    <dgm:cxn modelId="{3816BB2F-8980-48CA-AB0B-06484AA119F9}" type="presParOf" srcId="{DA2E521C-2953-4EFA-9B5E-88C03F3F486F}" destId="{5194B247-F3E1-4111-AB59-6B6979C49133}" srcOrd="1" destOrd="0" presId="urn:microsoft.com/office/officeart/2018/2/layout/IconLabelList"/>
    <dgm:cxn modelId="{B2C458F2-CCED-46F9-B25B-1D1E5BAE1F75}" type="presParOf" srcId="{DA2E521C-2953-4EFA-9B5E-88C03F3F486F}" destId="{C88F3182-3AC7-4913-A270-855CBF3DAF1E}"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350222-FF9F-4CEC-AD7F-0440BFB86559}">
      <dsp:nvSpPr>
        <dsp:cNvPr id="0" name=""/>
        <dsp:cNvSpPr/>
      </dsp:nvSpPr>
      <dsp:spPr>
        <a:xfrm>
          <a:off x="738477" y="1037662"/>
          <a:ext cx="1079825" cy="10798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0232408-E270-4004-B5D3-7C8577DF6DE7}">
      <dsp:nvSpPr>
        <dsp:cNvPr id="0" name=""/>
        <dsp:cNvSpPr/>
      </dsp:nvSpPr>
      <dsp:spPr>
        <a:xfrm>
          <a:off x="78583" y="2435142"/>
          <a:ext cx="23996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dirty="0"/>
            <a:t>Road crashes impose major social and economic costs in NZ.</a:t>
          </a:r>
        </a:p>
      </dsp:txBody>
      <dsp:txXfrm>
        <a:off x="78583" y="2435142"/>
        <a:ext cx="2399612" cy="720000"/>
      </dsp:txXfrm>
    </dsp:sp>
    <dsp:sp modelId="{004FDF01-A69E-45CA-918B-965AAD57100D}">
      <dsp:nvSpPr>
        <dsp:cNvPr id="0" name=""/>
        <dsp:cNvSpPr/>
      </dsp:nvSpPr>
      <dsp:spPr>
        <a:xfrm>
          <a:off x="3558022" y="1037662"/>
          <a:ext cx="1079825" cy="10798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4C9E251-E9B9-4609-B022-CA6D307541DF}">
      <dsp:nvSpPr>
        <dsp:cNvPr id="0" name=""/>
        <dsp:cNvSpPr/>
      </dsp:nvSpPr>
      <dsp:spPr>
        <a:xfrm>
          <a:off x="2898129" y="2435142"/>
          <a:ext cx="23996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a:t>Agencies need to understand which conditions lead to severe crashes.</a:t>
          </a:r>
        </a:p>
      </dsp:txBody>
      <dsp:txXfrm>
        <a:off x="2898129" y="2435142"/>
        <a:ext cx="2399612" cy="720000"/>
      </dsp:txXfrm>
    </dsp:sp>
    <dsp:sp modelId="{47DACFE2-B05D-4D66-AA69-CDB5A27AFEA2}">
      <dsp:nvSpPr>
        <dsp:cNvPr id="0" name=""/>
        <dsp:cNvSpPr/>
      </dsp:nvSpPr>
      <dsp:spPr>
        <a:xfrm>
          <a:off x="6377567" y="1037662"/>
          <a:ext cx="1079825" cy="10798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88F3182-3AC7-4913-A270-855CBF3DAF1E}">
      <dsp:nvSpPr>
        <dsp:cNvPr id="0" name=""/>
        <dsp:cNvSpPr/>
      </dsp:nvSpPr>
      <dsp:spPr>
        <a:xfrm>
          <a:off x="5717674" y="2435142"/>
          <a:ext cx="23996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a:t>Machine learning can uncover patterns not obvious from raw data.</a:t>
          </a:r>
        </a:p>
      </dsp:txBody>
      <dsp:txXfrm>
        <a:off x="5717674" y="2435142"/>
        <a:ext cx="2399612"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7053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project uses machine learning to predict whether a crash will be severe based on road, environmental, and participant‑related features.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Severe crashes are rare, but when they happen, the consequences are huge. The challenge is that severity isn’t driven by a single factor - it’s the interaction of factors such as environment, road users, and conditions. This project uses the Crash Analysis System dataset to untangle those interactions and show which combinations lead to the worst outcomes.”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NZ" dirty="0"/>
              <a:t>This is a big dataset for me – over 705K records and 79 columns</a:t>
            </a:r>
          </a:p>
          <a:p>
            <a:r>
              <a:rPr lang="en-NZ" dirty="0"/>
              <a:t>The dataset includes features such as:</a:t>
            </a:r>
          </a:p>
          <a:p>
            <a:pPr marL="171450" indent="-171450">
              <a:buFont typeface="Arial" panose="020B0604020202020204" pitchFamily="34" charset="0"/>
              <a:buChar char="•"/>
            </a:pPr>
            <a:r>
              <a:rPr lang="en-NZ" dirty="0"/>
              <a:t>numbers of buses, cars, pedestrians, moped</a:t>
            </a:r>
          </a:p>
          <a:p>
            <a:pPr marL="171450" indent="-171450">
              <a:buFont typeface="Arial" panose="020B0604020202020204" pitchFamily="34" charset="0"/>
              <a:buChar char="•"/>
            </a:pPr>
            <a:r>
              <a:rPr lang="en-NZ" dirty="0"/>
              <a:t>number of injuries – fatal, minor, </a:t>
            </a:r>
          </a:p>
          <a:p>
            <a:endParaRPr lang="en-NZ"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There are no </a:t>
            </a:r>
            <a:r>
              <a:rPr lang="en-GB" b="1" dirty="0"/>
              <a:t>date and time fields</a:t>
            </a:r>
            <a:r>
              <a:rPr lang="en-GB" dirty="0"/>
              <a:t>. Without time‑of‑day, day‑of‑week, or seasonal information, we can’t analyse temporal patterns, which are often crucial in crash modelling.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There are also no </a:t>
            </a:r>
            <a:r>
              <a:rPr lang="en-GB" b="1" dirty="0"/>
              <a:t>driver behaviour data</a:t>
            </a:r>
            <a:r>
              <a:rPr lang="en-GB" dirty="0"/>
              <a:t> such as distraction, impairment, fatigue, or speeding behaviour. These are often the strongest predictors of crash severity, but they’re not included in this Kaggle version of the Crash Analysis System dataset.</a:t>
            </a:r>
          </a:p>
          <a:p>
            <a:endParaRPr lang="en-NZ" dirty="0"/>
          </a:p>
          <a:p>
            <a:r>
              <a:rPr lang="en-GB" dirty="0"/>
              <a:t>The models are trained on </a:t>
            </a:r>
            <a:r>
              <a:rPr lang="en-GB" b="1" dirty="0"/>
              <a:t>historical data</a:t>
            </a:r>
            <a:r>
              <a:rPr lang="en-GB" dirty="0"/>
              <a:t>, which may not fully reflect emerging risks/patterns such as new vehicle technologies, changing road layouts, or evolving driver behaviour.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This project uses machine learning to predict whether a crash will be severe based on road, environmental, and participant‑related features.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 have cleaned up the names of the columns and created some engineered features such as </a:t>
            </a:r>
          </a:p>
          <a:p>
            <a:pPr lvl="1"/>
            <a:r>
              <a:rPr lang="en-NZ" sz="1800" dirty="0" err="1"/>
              <a:t>effective_speed_limit</a:t>
            </a:r>
            <a:endParaRPr lang="en-NZ" sz="1800" dirty="0"/>
          </a:p>
          <a:p>
            <a:pPr lvl="1"/>
            <a:r>
              <a:rPr lang="en-NZ" sz="1800" dirty="0" err="1"/>
              <a:t>num_participant_types</a:t>
            </a:r>
            <a:endParaRPr lang="en-NZ" sz="1800" dirty="0"/>
          </a:p>
          <a:p>
            <a:pPr lvl="1"/>
            <a:r>
              <a:rPr lang="en-NZ" sz="1800" dirty="0" err="1"/>
              <a:t>weather_pair</a:t>
            </a:r>
            <a:endParaRPr lang="en-NZ" sz="1800" dirty="0"/>
          </a:p>
          <a:p>
            <a:pPr lvl="1"/>
            <a:r>
              <a:rPr lang="en-NZ" sz="1800" dirty="0" err="1"/>
              <a:t>severity_binary</a:t>
            </a:r>
            <a:endParaRPr lang="en-NZ" sz="1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to help the model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Severe crashes are rare, and that imbalance means a model could ignore them and still look accurate. That’s why, in machine learning, we use </a:t>
            </a:r>
            <a:r>
              <a:rPr lang="en-GB" b="1" dirty="0" err="1"/>
              <a:t>class_weight</a:t>
            </a:r>
            <a:r>
              <a:rPr lang="en-GB" b="1" dirty="0"/>
              <a:t>='balanced'</a:t>
            </a:r>
            <a:r>
              <a:rPr lang="en-GB" dirty="0"/>
              <a:t> — it forces the model to treat severe crashes as equally important and stops the minority class from being drowned out.</a:t>
            </a:r>
          </a:p>
          <a:p>
            <a:endParaRPr lang="en-GB"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Clear peaks at 50, 80, 100 km/h </a:t>
            </a:r>
          </a:p>
          <a:p>
            <a:r>
              <a:rPr lang="en-GB" dirty="0"/>
              <a:t>Higher limits correlate with more severe crashes</a:t>
            </a:r>
          </a:p>
          <a:p>
            <a:r>
              <a:rPr lang="en-GB" dirty="0"/>
              <a:t>Speed is a key predictor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Emphasise that this chart shows </a:t>
            </a:r>
            <a:r>
              <a:rPr lang="en-GB" b="1" dirty="0"/>
              <a:t>raw crash counts</a:t>
            </a:r>
            <a:r>
              <a:rPr lang="en-GB" dirty="0"/>
              <a:t>, not severity </a:t>
            </a:r>
          </a:p>
          <a:p>
            <a:endParaRPr lang="en-GB" dirty="0"/>
          </a:p>
          <a:p>
            <a:r>
              <a:rPr lang="en-GB" dirty="0"/>
              <a:t>The dominance of “Bright sun” and “Overcast” is expected because these conditions represent the majority of driving time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35AC5-1FEE-BC1D-7783-09775324A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76012-F77C-C643-3F8B-4BB0AB9E8A7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D153CDC-F697-98DA-DAB6-856784856E41}"/>
              </a:ext>
            </a:extLst>
          </p:cNvPr>
          <p:cNvSpPr>
            <a:spLocks noGrp="1"/>
          </p:cNvSpPr>
          <p:nvPr>
            <p:ph type="body" sz="quarter" idx="3"/>
          </p:nvPr>
        </p:nvSpPr>
        <p:spPr/>
        <p:txBody>
          <a:bodyPr/>
          <a:lstStyle/>
          <a:p>
            <a:r>
              <a:rPr lang="en-GB" dirty="0"/>
              <a:t>This plot compares the </a:t>
            </a:r>
            <a:r>
              <a:rPr lang="en-GB" b="1" dirty="0"/>
              <a:t>effective speed limit</a:t>
            </a:r>
            <a:r>
              <a:rPr lang="en-GB" dirty="0"/>
              <a:t> for non‑severe crashes (0) and severe crashes (1). </a:t>
            </a:r>
          </a:p>
          <a:p>
            <a:endParaRPr lang="en-GB" dirty="0"/>
          </a:p>
          <a:p>
            <a:r>
              <a:rPr lang="en-GB" dirty="0"/>
              <a:t>At first glance, we might expect severe crashes to cluster at higher speed limits — but the boxplots show something more subtle.</a:t>
            </a:r>
          </a:p>
          <a:p>
            <a:pPr marL="171450" indent="-171450">
              <a:buFont typeface="Arial" panose="020B0604020202020204" pitchFamily="34" charset="0"/>
              <a:buChar char="•"/>
            </a:pPr>
            <a:r>
              <a:rPr lang="en-GB" dirty="0"/>
              <a:t>the </a:t>
            </a:r>
            <a:r>
              <a:rPr lang="en-GB" b="1" dirty="0"/>
              <a:t>median speed limit</a:t>
            </a:r>
            <a:r>
              <a:rPr lang="en-GB" dirty="0"/>
              <a:t> is almost identical for both severity groups.</a:t>
            </a:r>
          </a:p>
          <a:p>
            <a:pPr marL="171450" indent="-171450">
              <a:buFont typeface="Arial" panose="020B0604020202020204" pitchFamily="34" charset="0"/>
              <a:buChar char="•"/>
            </a:pPr>
            <a:r>
              <a:rPr lang="en-GB" dirty="0"/>
              <a:t>the </a:t>
            </a:r>
            <a:r>
              <a:rPr lang="en-GB" b="1" dirty="0"/>
              <a:t>interquartile ranges</a:t>
            </a:r>
            <a:r>
              <a:rPr lang="en-GB" dirty="0"/>
              <a:t> overlap heavily, meaning most crashes — severe or not — occur across a similar band of speed limits.</a:t>
            </a:r>
          </a:p>
          <a:p>
            <a:endParaRPr lang="en-GB" dirty="0"/>
          </a:p>
          <a:p>
            <a:r>
              <a:rPr lang="en-GB" dirty="0"/>
              <a:t>This suggests that </a:t>
            </a:r>
            <a:r>
              <a:rPr lang="en-GB" b="1" dirty="0"/>
              <a:t>speed limit alone is not a strong discriminator</a:t>
            </a:r>
            <a:r>
              <a:rPr lang="en-GB" dirty="0"/>
              <a:t> of severity in this dataset.</a:t>
            </a:r>
          </a:p>
          <a:p>
            <a:endParaRPr lang="en-GB" dirty="0"/>
          </a:p>
          <a:p>
            <a:r>
              <a:rPr lang="en-GB" dirty="0"/>
              <a:t>However, this doesn’t mean speed is unimportant. Instead, it implies that:</a:t>
            </a:r>
          </a:p>
          <a:p>
            <a:pPr lvl="1"/>
            <a:r>
              <a:rPr lang="en-GB" dirty="0"/>
              <a:t>Speed interacts with </a:t>
            </a:r>
            <a:r>
              <a:rPr lang="en-GB" b="1" dirty="0"/>
              <a:t>other factors</a:t>
            </a:r>
            <a:r>
              <a:rPr lang="en-GB" dirty="0"/>
              <a:t> (lighting, road type, participant types).</a:t>
            </a:r>
          </a:p>
          <a:p>
            <a:pPr lvl="1"/>
            <a:r>
              <a:rPr lang="en-GB" dirty="0"/>
              <a:t>The </a:t>
            </a:r>
            <a:r>
              <a:rPr lang="en-GB" b="1" dirty="0"/>
              <a:t>speed limit</a:t>
            </a:r>
            <a:r>
              <a:rPr lang="en-GB" dirty="0"/>
              <a:t> may not reflect the </a:t>
            </a:r>
            <a:r>
              <a:rPr lang="en-GB" b="1" dirty="0"/>
              <a:t>actual travel speed</a:t>
            </a:r>
            <a:r>
              <a:rPr lang="en-GB" dirty="0"/>
              <a:t> at the time of the crash.</a:t>
            </a:r>
          </a:p>
          <a:p>
            <a:pPr lvl="1"/>
            <a:r>
              <a:rPr lang="en-GB" dirty="0"/>
              <a:t>Severity may depend more on </a:t>
            </a:r>
            <a:r>
              <a:rPr lang="en-GB" b="1" dirty="0"/>
              <a:t>impact speed</a:t>
            </a:r>
            <a:r>
              <a:rPr lang="en-GB" dirty="0"/>
              <a:t>, which we don’t have.</a:t>
            </a:r>
          </a:p>
          <a:p>
            <a:endParaRPr lang="en-GB" dirty="0"/>
          </a:p>
          <a:p>
            <a:r>
              <a:rPr lang="en-GB" dirty="0"/>
              <a:t>Speed is still a meaningful factor, but </a:t>
            </a:r>
            <a:r>
              <a:rPr lang="en-GB" b="1" dirty="0"/>
              <a:t>not in isolation</a:t>
            </a:r>
            <a:r>
              <a:rPr lang="en-GB" dirty="0"/>
              <a:t>.</a:t>
            </a:r>
          </a:p>
        </p:txBody>
      </p:sp>
      <p:sp>
        <p:nvSpPr>
          <p:cNvPr id="4" name="Slide Number Placeholder 3">
            <a:extLst>
              <a:ext uri="{FF2B5EF4-FFF2-40B4-BE49-F238E27FC236}">
                <a16:creationId xmlns:a16="http://schemas.microsoft.com/office/drawing/2014/main" id="{D21B7468-BC69-B979-CD8E-54BC5A85A5E0}"/>
              </a:ext>
            </a:extLst>
          </p:cNvPr>
          <p:cNvSpPr>
            <a:spLocks noGrp="1"/>
          </p:cNvSpPr>
          <p:nvPr>
            <p:ph type="sldNum" sz="quarter" idx="5"/>
          </p:nvPr>
        </p:nvSpPr>
        <p:spPr/>
      </p:sp>
    </p:spTree>
    <p:extLst>
      <p:ext uri="{BB962C8B-B14F-4D97-AF65-F5344CB8AC3E}">
        <p14:creationId xmlns:p14="http://schemas.microsoft.com/office/powerpoint/2010/main" val="1238886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2C7C2-95CD-CEA1-F6CB-ECA2897FE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3896D5-1694-9097-A692-8EC73F6573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6302416-792F-C6CB-CEFD-6BF6DEA02530}"/>
              </a:ext>
            </a:extLst>
          </p:cNvPr>
          <p:cNvSpPr>
            <a:spLocks noGrp="1"/>
          </p:cNvSpPr>
          <p:nvPr>
            <p:ph type="body" sz="quarter" idx="3"/>
          </p:nvPr>
        </p:nvSpPr>
        <p:spPr/>
        <p:txBody>
          <a:bodyPr/>
          <a:lstStyle/>
          <a:p>
            <a:r>
              <a:rPr lang="en-GB" dirty="0"/>
              <a:t>This chart shows </a:t>
            </a:r>
            <a:r>
              <a:rPr lang="en-GB" b="1" dirty="0"/>
              <a:t>relative severity</a:t>
            </a:r>
            <a:r>
              <a:rPr lang="en-GB" dirty="0"/>
              <a:t>, not raw counts — it focuses on </a:t>
            </a:r>
            <a:r>
              <a:rPr lang="en-GB" i="1" dirty="0"/>
              <a:t>risk per crash</a:t>
            </a:r>
            <a:r>
              <a:rPr lang="en-GB" dirty="0"/>
              <a:t>, not frequency. </a:t>
            </a:r>
          </a:p>
          <a:p>
            <a:endParaRPr lang="en-GB" dirty="0"/>
          </a:p>
          <a:p>
            <a:r>
              <a:rPr lang="en-GB" dirty="0"/>
              <a:t>Motorcyclists and pedestrians stand out clearly as the most vulnerable groups, with a much higher share of severe outcomes.</a:t>
            </a:r>
          </a:p>
          <a:p>
            <a:endParaRPr lang="en-GB" dirty="0"/>
          </a:p>
          <a:p>
            <a:r>
              <a:rPr lang="en-GB" dirty="0"/>
              <a:t>Cyclists and moped riders also show elevated severity, reinforcing the vulnerability of two‑wheeled and unprotected road users.</a:t>
            </a:r>
          </a:p>
          <a:p>
            <a:endParaRPr lang="en-GB" dirty="0"/>
          </a:p>
          <a:p>
            <a:r>
              <a:rPr lang="en-GB" dirty="0"/>
              <a:t>Heavier vehicles tend to protect occupants better, which explains their lower severe‑crash proportions.</a:t>
            </a:r>
          </a:p>
          <a:p>
            <a:endParaRPr lang="en-GB" dirty="0"/>
          </a:p>
          <a:p>
            <a:r>
              <a:rPr lang="en-GB" dirty="0"/>
              <a:t>Cars and station wagons dominate the dataset in absolute numbers, but their severity percentage is comparatively low.</a:t>
            </a:r>
          </a:p>
        </p:txBody>
      </p:sp>
      <p:sp>
        <p:nvSpPr>
          <p:cNvPr id="4" name="Slide Number Placeholder 3">
            <a:extLst>
              <a:ext uri="{FF2B5EF4-FFF2-40B4-BE49-F238E27FC236}">
                <a16:creationId xmlns:a16="http://schemas.microsoft.com/office/drawing/2014/main" id="{E096B605-C227-9D3B-6178-539280C65DDD}"/>
              </a:ext>
            </a:extLst>
          </p:cNvPr>
          <p:cNvSpPr>
            <a:spLocks noGrp="1"/>
          </p:cNvSpPr>
          <p:nvPr>
            <p:ph type="sldNum" sz="quarter" idx="5"/>
          </p:nvPr>
        </p:nvSpPr>
        <p:spPr/>
      </p:sp>
    </p:spTree>
    <p:extLst>
      <p:ext uri="{BB962C8B-B14F-4D97-AF65-F5344CB8AC3E}">
        <p14:creationId xmlns:p14="http://schemas.microsoft.com/office/powerpoint/2010/main" val="2216762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7635A-AADD-6CED-06B8-909FB8EBB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F4E84-E1C0-EB1B-5946-C4460063994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054D093-833C-E985-B97B-15826BBA1475}"/>
              </a:ext>
            </a:extLst>
          </p:cNvPr>
          <p:cNvSpPr>
            <a:spLocks noGrp="1"/>
          </p:cNvSpPr>
          <p:nvPr>
            <p:ph type="body" sz="quarter" idx="3"/>
          </p:nvPr>
        </p:nvSpPr>
        <p:spPr/>
        <p:txBody>
          <a:bodyPr/>
          <a:lstStyle/>
          <a:p>
            <a:r>
              <a:rPr lang="en-GB" b="0" dirty="0"/>
              <a:t>This chart looks at severity </a:t>
            </a:r>
            <a:r>
              <a:rPr lang="en-GB" b="0" i="1" dirty="0"/>
              <a:t>as a percentage</a:t>
            </a:r>
            <a:r>
              <a:rPr lang="en-GB" b="0" dirty="0"/>
              <a:t> of crashes of each effective speed limit.</a:t>
            </a:r>
          </a:p>
          <a:p>
            <a:endParaRPr lang="en-GB" b="0" dirty="0"/>
          </a:p>
          <a:p>
            <a:r>
              <a:rPr lang="en-GB" b="0" dirty="0"/>
              <a:t>At very low effective speeds, severe crashes are rare which is exactly what we’d expect.</a:t>
            </a:r>
          </a:p>
          <a:p>
            <a:endParaRPr lang="en-GB" b="0" dirty="0"/>
          </a:p>
          <a:p>
            <a:r>
              <a:rPr lang="en-GB" b="0" dirty="0"/>
              <a:t>As we move into the mid‑range speed limits (40–70 km/h), the pattern becomes more mixed. </a:t>
            </a:r>
          </a:p>
          <a:p>
            <a:endParaRPr lang="en-GB" b="0" dirty="0"/>
          </a:p>
          <a:p>
            <a:r>
              <a:rPr lang="en-GB" b="0" dirty="0"/>
              <a:t>But once we reach the higher speed limits - 80km/h and above - the proportion of severe crashes rises sharply. Even small increases in speed can dramatically increase injury severity.</a:t>
            </a:r>
          </a:p>
          <a:p>
            <a:endParaRPr lang="en-GB" b="0" dirty="0"/>
          </a:p>
          <a:p>
            <a:r>
              <a:rPr lang="en-GB" b="0" dirty="0"/>
              <a:t>This slide complements the earlier boxplot:</a:t>
            </a:r>
          </a:p>
          <a:p>
            <a:pPr lvl="1"/>
            <a:r>
              <a:rPr lang="en-GB" b="0" dirty="0"/>
              <a:t>The boxplot showed that speed limit alone doesn’t </a:t>
            </a:r>
            <a:r>
              <a:rPr lang="en-GB" b="0" i="1" dirty="0"/>
              <a:t>separate</a:t>
            </a:r>
            <a:r>
              <a:rPr lang="en-GB" b="0" dirty="0"/>
              <a:t> severe from non‑severe crashes.</a:t>
            </a:r>
          </a:p>
          <a:p>
            <a:pPr lvl="1"/>
            <a:r>
              <a:rPr lang="en-GB" b="0" dirty="0"/>
              <a:t>But this percentage‑based view shows that higher‑speed environments do carry higher severity risk, even if the distributions overlap.</a:t>
            </a:r>
          </a:p>
          <a:p>
            <a:pPr marL="57150" indent="0" defTabSz="914400">
              <a:lnSpc>
                <a:spcPct val="90000"/>
              </a:lnSpc>
              <a:spcAft>
                <a:spcPts val="600"/>
              </a:spcAft>
              <a:buFont typeface="Arial" panose="020B0604020202020204" pitchFamily="34" charset="0"/>
              <a:buNone/>
            </a:pPr>
            <a:endParaRPr lang="en-US" b="0" dirty="0"/>
          </a:p>
        </p:txBody>
      </p:sp>
      <p:sp>
        <p:nvSpPr>
          <p:cNvPr id="4" name="Slide Number Placeholder 3">
            <a:extLst>
              <a:ext uri="{FF2B5EF4-FFF2-40B4-BE49-F238E27FC236}">
                <a16:creationId xmlns:a16="http://schemas.microsoft.com/office/drawing/2014/main" id="{BA5BA212-1CA4-4BDA-AF41-A7A4EF56547F}"/>
              </a:ext>
            </a:extLst>
          </p:cNvPr>
          <p:cNvSpPr>
            <a:spLocks noGrp="1"/>
          </p:cNvSpPr>
          <p:nvPr>
            <p:ph type="sldNum" sz="quarter" idx="5"/>
          </p:nvPr>
        </p:nvSpPr>
        <p:spPr/>
      </p:sp>
    </p:spTree>
    <p:extLst>
      <p:ext uri="{BB962C8B-B14F-4D97-AF65-F5344CB8AC3E}">
        <p14:creationId xmlns:p14="http://schemas.microsoft.com/office/powerpoint/2010/main" val="1309754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EA67A-2C63-69E0-6F39-E729522C21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E9EB4-97E3-67F0-FBD4-31503E47B64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7891267-4A7D-D50F-C749-7766C2F901AA}"/>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Main point: no strong correlations - low multicollinearity</a:t>
            </a:r>
            <a:br>
              <a:rPr lang="en-GB" dirty="0"/>
            </a:br>
            <a:endParaRPr lang="en-GB" b="1" dirty="0"/>
          </a:p>
          <a:p>
            <a:endParaRPr lang="en-GB" dirty="0"/>
          </a:p>
          <a:p>
            <a:r>
              <a:rPr lang="en-GB" dirty="0"/>
              <a:t>Injury counts show weak positive correlations with each other </a:t>
            </a:r>
          </a:p>
          <a:p>
            <a:endParaRPr lang="en-GB" sz="1200" kern="1200" dirty="0">
              <a:solidFill>
                <a:schemeClr val="tx1"/>
              </a:solidFill>
              <a:latin typeface="+mn-lt"/>
              <a:ea typeface="+mn-ea"/>
              <a:cs typeface="+mn-cs"/>
            </a:endParaRPr>
          </a:p>
          <a:p>
            <a:r>
              <a:rPr lang="en-GB" sz="1200" kern="1200" dirty="0" err="1">
                <a:solidFill>
                  <a:schemeClr val="tx1"/>
                </a:solidFill>
                <a:latin typeface="+mn-lt"/>
                <a:ea typeface="+mn-ea"/>
                <a:cs typeface="+mn-cs"/>
              </a:rPr>
              <a:t>effective_speed_limit</a:t>
            </a:r>
            <a:r>
              <a:rPr lang="en-GB" dirty="0"/>
              <a:t> has small positive correlations with injury counts</a:t>
            </a:r>
          </a:p>
          <a:p>
            <a:endParaRPr lang="en-GB" sz="1200" kern="1200" dirty="0">
              <a:solidFill>
                <a:schemeClr val="tx1"/>
              </a:solidFill>
              <a:latin typeface="+mn-lt"/>
              <a:ea typeface="+mn-ea"/>
              <a:cs typeface="+mn-cs"/>
            </a:endParaRPr>
          </a:p>
          <a:p>
            <a:r>
              <a:rPr lang="en-GB" sz="1200" kern="1200" dirty="0" err="1">
                <a:solidFill>
                  <a:schemeClr val="tx1"/>
                </a:solidFill>
                <a:latin typeface="+mn-lt"/>
                <a:ea typeface="+mn-ea"/>
                <a:cs typeface="+mn-cs"/>
              </a:rPr>
              <a:t>num_participant_types</a:t>
            </a:r>
            <a:r>
              <a:rPr lang="en-GB" dirty="0"/>
              <a:t> shows:</a:t>
            </a:r>
          </a:p>
          <a:p>
            <a:pPr lvl="1"/>
            <a:r>
              <a:rPr lang="en-GB" dirty="0"/>
              <a:t>Moderate negative correlation with </a:t>
            </a:r>
            <a:r>
              <a:rPr lang="en-GB" sz="1200" kern="1200" dirty="0" err="1">
                <a:solidFill>
                  <a:schemeClr val="tx1"/>
                </a:solidFill>
                <a:latin typeface="+mn-lt"/>
                <a:ea typeface="+mn-ea"/>
                <a:cs typeface="+mn-cs"/>
              </a:rPr>
              <a:t>effective_speed_limit</a:t>
            </a:r>
            <a:endParaRPr lang="en-GB" dirty="0"/>
          </a:p>
          <a:p>
            <a:pPr lvl="1"/>
            <a:r>
              <a:rPr lang="en-GB" dirty="0"/>
              <a:t>Moderate positive correlation with </a:t>
            </a:r>
            <a:r>
              <a:rPr lang="en-GB" sz="1200" kern="1200" dirty="0" err="1">
                <a:solidFill>
                  <a:schemeClr val="tx1"/>
                </a:solidFill>
                <a:latin typeface="+mn-lt"/>
                <a:ea typeface="+mn-ea"/>
                <a:cs typeface="+mn-cs"/>
              </a:rPr>
              <a:t>number_of_lanes</a:t>
            </a:r>
            <a:endParaRPr lang="en-GB" dirty="0"/>
          </a:p>
          <a:p>
            <a:r>
              <a:rPr lang="en-GB" dirty="0"/>
              <a:t>Emphasise that the numeric features are not redundant.</a:t>
            </a:r>
          </a:p>
          <a:p>
            <a:r>
              <a:rPr lang="en-GB" dirty="0"/>
              <a:t>Engineered features behave sensibly and add value.</a:t>
            </a:r>
          </a:p>
        </p:txBody>
      </p:sp>
      <p:sp>
        <p:nvSpPr>
          <p:cNvPr id="4" name="Slide Number Placeholder 3">
            <a:extLst>
              <a:ext uri="{FF2B5EF4-FFF2-40B4-BE49-F238E27FC236}">
                <a16:creationId xmlns:a16="http://schemas.microsoft.com/office/drawing/2014/main" id="{9AF2C4C3-D9EE-7AFF-5659-4BE41758DD74}"/>
              </a:ext>
            </a:extLst>
          </p:cNvPr>
          <p:cNvSpPr>
            <a:spLocks noGrp="1"/>
          </p:cNvSpPr>
          <p:nvPr>
            <p:ph type="sldNum" sz="quarter" idx="5"/>
          </p:nvPr>
        </p:nvSpPr>
        <p:spPr/>
      </p:sp>
    </p:spTree>
    <p:extLst>
      <p:ext uri="{BB962C8B-B14F-4D97-AF65-F5344CB8AC3E}">
        <p14:creationId xmlns:p14="http://schemas.microsoft.com/office/powerpoint/2010/main" val="966614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0" dirty="0"/>
              <a:t>The modelling process didn’t follow a straight line — it evolved as I tested what was practical at this dataset’s scale.</a:t>
            </a:r>
          </a:p>
          <a:p>
            <a:endParaRPr lang="en-GB" b="0" dirty="0"/>
          </a:p>
          <a:p>
            <a:r>
              <a:rPr lang="en-GB" b="0" dirty="0"/>
              <a:t>I initially planned to use </a:t>
            </a:r>
            <a:r>
              <a:rPr lang="en-GB" b="0" dirty="0" err="1"/>
              <a:t>GridSearchCV</a:t>
            </a:r>
            <a:r>
              <a:rPr lang="en-GB" b="0" dirty="0"/>
              <a:t>, but with lots of rows and a heavy preprocessing pipeline, it became clear that </a:t>
            </a:r>
            <a:r>
              <a:rPr lang="en-GB" b="0" dirty="0" err="1"/>
              <a:t>GridSearchCV</a:t>
            </a:r>
            <a:r>
              <a:rPr lang="en-GB" b="0" dirty="0"/>
              <a:t> was far too slow to be practical.</a:t>
            </a:r>
          </a:p>
          <a:p>
            <a:endParaRPr lang="en-GB" b="0" dirty="0"/>
          </a:p>
          <a:p>
            <a:r>
              <a:rPr lang="en-GB" b="0" dirty="0"/>
              <a:t>I also went down a bit of a rabbit hole with Bernoulli Naïve Bayes. It seemed like the right choice at the time, but in practice it didn’t perform well and required awkward preprocessing adjustments.</a:t>
            </a:r>
          </a:p>
          <a:p>
            <a:endParaRPr lang="en-GB" b="0" dirty="0"/>
          </a:p>
          <a:p>
            <a:r>
              <a:rPr lang="en-GB" b="0" dirty="0"/>
              <a:t>I switched back Gaussian Naïve Bayes. This forced me to split the preprocessing into two separate pipelines:</a:t>
            </a:r>
          </a:p>
          <a:p>
            <a:pPr lvl="1"/>
            <a:r>
              <a:rPr lang="en-GB" b="0" dirty="0"/>
              <a:t>A sparse pipeline for Logistic Regression and SVM (efficient and memory‑friendly)</a:t>
            </a:r>
          </a:p>
          <a:p>
            <a:pPr lvl="1"/>
            <a:r>
              <a:rPr lang="en-GB" b="0" dirty="0"/>
              <a:t>A dense pipeline for </a:t>
            </a:r>
            <a:r>
              <a:rPr lang="en-GB" b="0" dirty="0" err="1"/>
              <a:t>GaussianNB</a:t>
            </a:r>
            <a:r>
              <a:rPr lang="en-GB" b="0" dirty="0"/>
              <a:t> (because it can’t handle sparse matrices)</a:t>
            </a:r>
          </a:p>
          <a:p>
            <a:endParaRPr lang="en-GB" b="0" dirty="0"/>
          </a:p>
          <a:p>
            <a:r>
              <a:rPr lang="en-GB" b="0" dirty="0"/>
              <a:t>Once the pipelines were sorted out, I focused on models that were fast, robust, and interpretable, rather than chasing marginal gains through expensive tuning.</a:t>
            </a:r>
          </a:p>
          <a:p>
            <a:endParaRPr lang="en-GB" b="0" dirty="0"/>
          </a:p>
          <a:p>
            <a:r>
              <a:rPr lang="en-GB" b="0" dirty="0"/>
              <a:t>The final modelling suite reflects a balance between theoretical and practical constraints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BBD12-939A-3845-8FE1-CF6E5A2A0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BC904-51C5-BA72-D87E-A56FD3BFE95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8C6305F-F9E5-92B6-0BFA-A2F3E3C99DCE}"/>
              </a:ext>
            </a:extLst>
          </p:cNvPr>
          <p:cNvSpPr>
            <a:spLocks noGrp="1"/>
          </p:cNvSpPr>
          <p:nvPr>
            <p:ph type="body" sz="quarter" idx="3"/>
          </p:nvPr>
        </p:nvSpPr>
        <p:spPr/>
        <p:txBody>
          <a:bodyPr/>
          <a:lstStyle/>
          <a:p>
            <a:r>
              <a:rPr lang="en-GB" b="0" dirty="0"/>
              <a:t>Both Logistic Regression and Linear SVM are essentially perfect on this dataset — accuracy, precision, recall, F1, and ROC‑AUC are all at or extremely close to 1.0. SVM edges ahead slightly, but the difference is negligible.</a:t>
            </a:r>
          </a:p>
          <a:p>
            <a:endParaRPr lang="en-GB" b="0" dirty="0"/>
          </a:p>
          <a:p>
            <a:r>
              <a:rPr lang="en-GB" b="0" dirty="0" err="1"/>
              <a:t>GaussianNB</a:t>
            </a:r>
            <a:r>
              <a:rPr lang="en-GB" b="0" dirty="0"/>
              <a:t>, on the other hand, is a mixed bag:</a:t>
            </a:r>
          </a:p>
          <a:p>
            <a:pPr marL="171450" lvl="0" indent="-171450">
              <a:buFont typeface="Arial" panose="020B0604020202020204" pitchFamily="34" charset="0"/>
              <a:buChar char="•"/>
            </a:pPr>
            <a:r>
              <a:rPr lang="en-GB" b="0" dirty="0"/>
              <a:t>It achieves excellent recall (almost identical to the linear models)</a:t>
            </a:r>
          </a:p>
          <a:p>
            <a:pPr marL="171450" lvl="0" indent="-171450">
              <a:buFont typeface="Arial" panose="020B0604020202020204" pitchFamily="34" charset="0"/>
              <a:buChar char="•"/>
            </a:pPr>
            <a:r>
              <a:rPr lang="en-GB" b="0" dirty="0"/>
              <a:t>And a very high ROC‑AUC, meaning it ranks severe vs non‑severe cases well</a:t>
            </a:r>
          </a:p>
          <a:p>
            <a:pPr marL="171450" lvl="0" indent="-171450">
              <a:buFont typeface="Arial" panose="020B0604020202020204" pitchFamily="34" charset="0"/>
              <a:buChar char="•"/>
            </a:pPr>
            <a:r>
              <a:rPr lang="en-GB" b="0" dirty="0"/>
              <a:t>But its precision collapses, which drags F1 down</a:t>
            </a:r>
          </a:p>
          <a:p>
            <a:pPr marL="171450" lvl="0" indent="-171450">
              <a:buFont typeface="Arial" panose="020B0604020202020204" pitchFamily="34" charset="0"/>
              <a:buChar char="•"/>
            </a:pPr>
            <a:endParaRPr lang="en-GB" b="0" dirty="0"/>
          </a:p>
          <a:p>
            <a:r>
              <a:rPr lang="en-GB" b="0" dirty="0"/>
              <a:t>This happens because </a:t>
            </a:r>
            <a:r>
              <a:rPr lang="en-GB" b="0" dirty="0" err="1"/>
              <a:t>GaussianNB</a:t>
            </a:r>
            <a:r>
              <a:rPr lang="en-GB" b="0" dirty="0"/>
              <a:t> assumes each feature follows a normal distribution, which is not true for one‑hot encoded categorical data. The model ends up predicting “severe” more often, which inflates recall but reduces precision.</a:t>
            </a:r>
          </a:p>
          <a:p>
            <a:r>
              <a:rPr lang="en-GB" b="0" dirty="0"/>
              <a:t>This reinforces why the dense vs sparse preprocessing split was necessary — </a:t>
            </a:r>
            <a:r>
              <a:rPr lang="en-GB" b="0" dirty="0" err="1"/>
              <a:t>GaussianNB</a:t>
            </a:r>
            <a:r>
              <a:rPr lang="en-GB" b="0" dirty="0"/>
              <a:t> needed dense numeric input, while LR and SVM thrived on sparse matrices.</a:t>
            </a:r>
          </a:p>
          <a:p>
            <a:endParaRPr lang="en-GB" b="0" dirty="0"/>
          </a:p>
          <a:p>
            <a:r>
              <a:rPr lang="en-GB" b="0" dirty="0"/>
              <a:t>The takeaway for the audience:</a:t>
            </a:r>
          </a:p>
          <a:p>
            <a:r>
              <a:rPr lang="en-GB" b="0" dirty="0"/>
              <a:t>Linear models dominate this dataset</a:t>
            </a:r>
          </a:p>
        </p:txBody>
      </p:sp>
      <p:sp>
        <p:nvSpPr>
          <p:cNvPr id="4" name="Slide Number Placeholder 3">
            <a:extLst>
              <a:ext uri="{FF2B5EF4-FFF2-40B4-BE49-F238E27FC236}">
                <a16:creationId xmlns:a16="http://schemas.microsoft.com/office/drawing/2014/main" id="{BA674340-00CB-84BC-3424-D8EF8470CA7A}"/>
              </a:ext>
            </a:extLst>
          </p:cNvPr>
          <p:cNvSpPr>
            <a:spLocks noGrp="1"/>
          </p:cNvSpPr>
          <p:nvPr>
            <p:ph type="sldNum" sz="quarter" idx="5"/>
          </p:nvPr>
        </p:nvSpPr>
        <p:spPr/>
      </p:sp>
    </p:spTree>
    <p:extLst>
      <p:ext uri="{BB962C8B-B14F-4D97-AF65-F5344CB8AC3E}">
        <p14:creationId xmlns:p14="http://schemas.microsoft.com/office/powerpoint/2010/main" val="16291807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0" dirty="0"/>
              <a:t>These confusion matrices tell the story even more clearly than the performance table.</a:t>
            </a:r>
          </a:p>
          <a:p>
            <a:endParaRPr lang="en-GB" b="0" dirty="0"/>
          </a:p>
          <a:p>
            <a:r>
              <a:rPr lang="en-GB" b="0" dirty="0"/>
              <a:t>Starting with the linear models:</a:t>
            </a:r>
          </a:p>
          <a:p>
            <a:pPr lvl="1"/>
            <a:r>
              <a:rPr lang="en-GB" b="0" dirty="0"/>
              <a:t>SVM is great! It predicts every non‑severe crash correctly and misses only one severe crash.</a:t>
            </a:r>
          </a:p>
          <a:p>
            <a:pPr lvl="1"/>
            <a:r>
              <a:rPr lang="en-GB" b="0" dirty="0"/>
              <a:t>Logistic Regression is almost identical, with only two false positives and one false negative.</a:t>
            </a:r>
          </a:p>
          <a:p>
            <a:pPr lvl="1"/>
            <a:r>
              <a:rPr lang="en-GB" b="0" dirty="0"/>
              <a:t>For a dataset of this size, these numbers are very strong (and, if I am honest, this makes me suspicious).</a:t>
            </a:r>
          </a:p>
          <a:p>
            <a:endParaRPr lang="en-GB" b="0" dirty="0"/>
          </a:p>
          <a:p>
            <a:r>
              <a:rPr lang="en-GB" b="0" dirty="0"/>
              <a:t>Now compare that to Gaussian Naïve Bayes:</a:t>
            </a:r>
          </a:p>
          <a:p>
            <a:pPr lvl="1"/>
            <a:r>
              <a:rPr lang="en-GB" b="0" dirty="0"/>
              <a:t>It correctly identifies almost all severe crashes (only one false negative).</a:t>
            </a:r>
          </a:p>
          <a:p>
            <a:pPr lvl="1"/>
            <a:r>
              <a:rPr lang="en-GB" b="0" dirty="0"/>
              <a:t>But it produces 47,654 false positives: predicting “severe” when the crash was actually non‑severe.</a:t>
            </a:r>
          </a:p>
          <a:p>
            <a:endParaRPr lang="en-GB" b="0" dirty="0"/>
          </a:p>
          <a:p>
            <a:r>
              <a:rPr lang="en-GB" b="0" dirty="0"/>
              <a:t>Naïve Bayes fails here because:</a:t>
            </a:r>
          </a:p>
          <a:p>
            <a:pPr lvl="1"/>
            <a:r>
              <a:rPr lang="en-GB" b="0" dirty="0"/>
              <a:t>It assumes each feature is independent and normally distributed.</a:t>
            </a:r>
          </a:p>
          <a:p>
            <a:pPr lvl="1"/>
            <a:r>
              <a:rPr lang="en-GB" b="0" dirty="0"/>
              <a:t>This is untrue for one‑hot encoded categorical data.</a:t>
            </a:r>
          </a:p>
          <a:p>
            <a:pPr lvl="1"/>
            <a:r>
              <a:rPr lang="en-GB" b="0" dirty="0"/>
              <a:t>As a result, it becomes overconfident and predicts “severe” far too often.</a:t>
            </a:r>
          </a:p>
          <a:p>
            <a:endParaRPr lang="en-GB" b="0" dirty="0"/>
          </a:p>
          <a:p>
            <a:r>
              <a:rPr lang="en-GB" b="0" dirty="0"/>
              <a:t>Linear models are more reliable - the confusion matrices displayed make that difference undeniable</a:t>
            </a:r>
          </a:p>
          <a:p>
            <a:endParaRPr lang="en-NZ" b="0" dirty="0"/>
          </a:p>
          <a:p>
            <a:endParaRPr lang="en-NZ" b="0" dirty="0"/>
          </a:p>
          <a:p>
            <a:endParaRPr b="0"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8F4E0-BCBD-B714-B8C0-2EC4859A6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CF5699-D289-54B9-2FA2-BE42B8A4CD3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C4A42EA-D5A2-00DA-FF1A-591FFB8FCB7A}"/>
              </a:ext>
            </a:extLst>
          </p:cNvPr>
          <p:cNvSpPr>
            <a:spLocks noGrp="1"/>
          </p:cNvSpPr>
          <p:nvPr>
            <p:ph type="body" sz="quarter" idx="3"/>
          </p:nvPr>
        </p:nvSpPr>
        <p:spPr/>
        <p:txBody>
          <a:bodyPr/>
          <a:lstStyle/>
          <a:p>
            <a:r>
              <a:rPr lang="en-GB" b="1" dirty="0"/>
              <a:t>Receiver Operating Characteristics </a:t>
            </a:r>
            <a:r>
              <a:rPr lang="en-GB" b="0" dirty="0"/>
              <a:t>- </a:t>
            </a:r>
            <a:r>
              <a:rPr lang="en-GB" dirty="0"/>
              <a:t>Measures how well a model can </a:t>
            </a:r>
            <a:r>
              <a:rPr lang="en-GB" b="1" dirty="0"/>
              <a:t>separate</a:t>
            </a:r>
            <a:r>
              <a:rPr lang="en-GB" dirty="0"/>
              <a:t> the positive class from the negative class </a:t>
            </a:r>
            <a:endParaRPr lang="en-GB" b="0" dirty="0"/>
          </a:p>
          <a:p>
            <a:endParaRPr lang="en-GB" b="0" dirty="0"/>
          </a:p>
          <a:p>
            <a:r>
              <a:rPr lang="en-GB" b="0" dirty="0"/>
              <a:t>These ROC curves show how well each model can rank severe vs non‑severe crashes — and all three models perform extremely well.</a:t>
            </a:r>
          </a:p>
          <a:p>
            <a:endParaRPr lang="en-GB" b="0" dirty="0"/>
          </a:p>
          <a:p>
            <a:r>
              <a:rPr lang="en-GB" b="0" dirty="0"/>
              <a:t>The Linear SVM (in orange) has the highest AUC, but the difference between SVM and Logistic Regression is tiny. Both curves hug the top‑left corner.</a:t>
            </a:r>
          </a:p>
          <a:p>
            <a:endParaRPr lang="en-GB" b="0" dirty="0"/>
          </a:p>
          <a:p>
            <a:r>
              <a:rPr lang="en-GB" b="0" dirty="0"/>
              <a:t>Gaussian Naïve Bayes also shows a very high AUC, despite performing poorly on precision and F1.</a:t>
            </a:r>
          </a:p>
          <a:p>
            <a:endParaRPr lang="en-GB" b="0" dirty="0"/>
          </a:p>
          <a:p>
            <a:r>
              <a:rPr lang="en-GB" b="0" dirty="0"/>
              <a:t>This slide reinforces why we need to look at multiple metrics — accuracy, precision, recall, F1, confusion matrices, and ROC curves all tell different parts of the story.</a:t>
            </a:r>
          </a:p>
          <a:p>
            <a:endParaRPr lang="en-GB" b="0" dirty="0"/>
          </a:p>
          <a:p>
            <a:r>
              <a:rPr lang="en-GB" b="0" dirty="0"/>
              <a:t>This supports the final model choice and ties neatly into the next slide on key insights.</a:t>
            </a:r>
          </a:p>
        </p:txBody>
      </p:sp>
      <p:sp>
        <p:nvSpPr>
          <p:cNvPr id="4" name="Slide Number Placeholder 3">
            <a:extLst>
              <a:ext uri="{FF2B5EF4-FFF2-40B4-BE49-F238E27FC236}">
                <a16:creationId xmlns:a16="http://schemas.microsoft.com/office/drawing/2014/main" id="{01E49CE0-E3B7-C392-7897-A0DEA4A07537}"/>
              </a:ext>
            </a:extLst>
          </p:cNvPr>
          <p:cNvSpPr>
            <a:spLocks noGrp="1"/>
          </p:cNvSpPr>
          <p:nvPr>
            <p:ph type="sldNum" sz="quarter" idx="5"/>
          </p:nvPr>
        </p:nvSpPr>
        <p:spPr/>
      </p:sp>
    </p:spTree>
    <p:extLst>
      <p:ext uri="{BB962C8B-B14F-4D97-AF65-F5344CB8AC3E}">
        <p14:creationId xmlns:p14="http://schemas.microsoft.com/office/powerpoint/2010/main" val="24197271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10A9E-FF7C-5210-28B6-EDCFEDC07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686436-6A62-0559-925F-88232E7C1FE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0ACD6F5-ED02-A5BB-74BB-5D6EF11E92D2}"/>
              </a:ext>
            </a:extLst>
          </p:cNvPr>
          <p:cNvSpPr>
            <a:spLocks noGrp="1"/>
          </p:cNvSpPr>
          <p:nvPr>
            <p:ph type="body" sz="quarter" idx="3"/>
          </p:nvPr>
        </p:nvSpPr>
        <p:spPr/>
        <p:txBody>
          <a:bodyPr/>
          <a:lstStyle/>
          <a:p>
            <a:r>
              <a:rPr lang="en-GB" b="0" dirty="0"/>
              <a:t>The first insight is that speed limit alone doesn’t separate severe from non‑severe crashes. The boxplot showed almost identical distributions meaning severity depends on </a:t>
            </a:r>
            <a:r>
              <a:rPr lang="en-GB" b="0" i="1" dirty="0"/>
              <a:t>interactions</a:t>
            </a:r>
            <a:r>
              <a:rPr lang="en-GB" b="0" dirty="0"/>
              <a:t>, not a single variable.</a:t>
            </a:r>
          </a:p>
          <a:p>
            <a:endParaRPr lang="en-GB" b="0" dirty="0"/>
          </a:p>
          <a:p>
            <a:r>
              <a:rPr lang="en-GB" b="0" dirty="0"/>
              <a:t>Participant type is another strong indicator. Motorcyclists, pedestrians, and cyclists are consistently over‑represented in severe outcomes, reinforcing their vulnerability.</a:t>
            </a:r>
          </a:p>
          <a:p>
            <a:endParaRPr lang="en-GB" b="0" dirty="0"/>
          </a:p>
          <a:p>
            <a:r>
              <a:rPr lang="en-GB" b="0" dirty="0"/>
              <a:t>The engineered features behaved as intended: they added structure without introducing multicollinearity, which helped the models learn more effectively.</a:t>
            </a:r>
          </a:p>
          <a:p>
            <a:endParaRPr lang="en-GB" b="0" dirty="0"/>
          </a:p>
          <a:p>
            <a:r>
              <a:rPr lang="en-GB" b="0" dirty="0"/>
              <a:t>On the modelling side, the linear models (Logistic Regression and SVM) were strong and stable.</a:t>
            </a:r>
          </a:p>
          <a:p>
            <a:endParaRPr lang="en-GB" b="0" dirty="0"/>
          </a:p>
          <a:p>
            <a:r>
              <a:rPr lang="en-GB" b="0" dirty="0"/>
              <a:t>Gaussian Naïve Bayes looked good on ROC‑AUC but failed on precision and F1 because its assumptions don’t match one‑hot encoded data.</a:t>
            </a:r>
          </a:p>
        </p:txBody>
      </p:sp>
      <p:sp>
        <p:nvSpPr>
          <p:cNvPr id="4" name="Slide Number Placeholder 3">
            <a:extLst>
              <a:ext uri="{FF2B5EF4-FFF2-40B4-BE49-F238E27FC236}">
                <a16:creationId xmlns:a16="http://schemas.microsoft.com/office/drawing/2014/main" id="{F68D5651-96C6-A46F-1E3F-12337A18B009}"/>
              </a:ext>
            </a:extLst>
          </p:cNvPr>
          <p:cNvSpPr>
            <a:spLocks noGrp="1"/>
          </p:cNvSpPr>
          <p:nvPr>
            <p:ph type="sldNum" sz="quarter" idx="5"/>
          </p:nvPr>
        </p:nvSpPr>
        <p:spPr/>
      </p:sp>
    </p:spTree>
    <p:extLst>
      <p:ext uri="{BB962C8B-B14F-4D97-AF65-F5344CB8AC3E}">
        <p14:creationId xmlns:p14="http://schemas.microsoft.com/office/powerpoint/2010/main" val="4238485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986118" y="735106"/>
            <a:ext cx="7540322" cy="2928470"/>
          </a:xfrm>
        </p:spPr>
        <p:txBody>
          <a:bodyPr anchor="b">
            <a:normAutofit/>
          </a:bodyPr>
          <a:lstStyle/>
          <a:p>
            <a:pPr algn="l"/>
            <a:r>
              <a:rPr lang="en-GB" sz="4200">
                <a:solidFill>
                  <a:srgbClr val="FFFFFF"/>
                </a:solidFill>
              </a:rPr>
              <a:t>Predicting Crash Severity in New Zealand Using Machine Learning</a:t>
            </a:r>
          </a:p>
        </p:txBody>
      </p:sp>
      <p:sp>
        <p:nvSpPr>
          <p:cNvPr id="3" name="Subtitle 2"/>
          <p:cNvSpPr>
            <a:spLocks noGrp="1"/>
          </p:cNvSpPr>
          <p:nvPr>
            <p:ph type="subTitle" idx="1"/>
          </p:nvPr>
        </p:nvSpPr>
        <p:spPr>
          <a:xfrm>
            <a:off x="1013011" y="4870824"/>
            <a:ext cx="7504463" cy="1458258"/>
          </a:xfrm>
        </p:spPr>
        <p:txBody>
          <a:bodyPr anchor="ctr">
            <a:normAutofit/>
          </a:bodyPr>
          <a:lstStyle/>
          <a:p>
            <a:pPr algn="l"/>
            <a:r>
              <a:t>Crash Analysis System (CAS) — Kaggle Dataset</a:t>
            </a:r>
            <a:endParaRPr lang="en-NZ"/>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NZ" sz="3500">
                <a:solidFill>
                  <a:srgbClr val="FFFFFF"/>
                </a:solidFill>
              </a:rPr>
              <a:t>The Problem</a:t>
            </a:r>
          </a:p>
        </p:txBody>
      </p:sp>
      <p:graphicFrame>
        <p:nvGraphicFramePr>
          <p:cNvPr id="5" name="Content Placeholder 2">
            <a:extLst>
              <a:ext uri="{FF2B5EF4-FFF2-40B4-BE49-F238E27FC236}">
                <a16:creationId xmlns:a16="http://schemas.microsoft.com/office/drawing/2014/main" id="{5DE55470-82D3-8100-F2BE-2A6608B41ECE}"/>
              </a:ext>
            </a:extLst>
          </p:cNvPr>
          <p:cNvGraphicFramePr>
            <a:graphicFrameLocks noGrp="1"/>
          </p:cNvGraphicFramePr>
          <p:nvPr>
            <p:ph idx="1"/>
            <p:extLst>
              <p:ext uri="{D42A27DB-BD31-4B8C-83A1-F6EECF244321}">
                <p14:modId xmlns:p14="http://schemas.microsoft.com/office/powerpoint/2010/main" val="4208054860"/>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NZ" sz="3500">
                <a:solidFill>
                  <a:srgbClr val="FFFFFF"/>
                </a:solidFill>
              </a:rPr>
              <a:t>Dataset Overview</a:t>
            </a:r>
          </a:p>
        </p:txBody>
      </p:sp>
      <p:sp>
        <p:nvSpPr>
          <p:cNvPr id="3" name="Content Placeholder 2"/>
          <p:cNvSpPr>
            <a:spLocks noGrp="1"/>
          </p:cNvSpPr>
          <p:nvPr>
            <p:ph idx="1"/>
          </p:nvPr>
        </p:nvSpPr>
        <p:spPr>
          <a:xfrm>
            <a:off x="1028699" y="2318197"/>
            <a:ext cx="7293023" cy="3683358"/>
          </a:xfrm>
        </p:spPr>
        <p:txBody>
          <a:bodyPr anchor="ctr">
            <a:normAutofit/>
          </a:bodyPr>
          <a:lstStyle/>
          <a:p>
            <a:r>
              <a:rPr lang="en-GB" sz="1800" dirty="0"/>
              <a:t>~705,000 crash records</a:t>
            </a:r>
          </a:p>
          <a:p>
            <a:r>
              <a:rPr lang="en-GB" sz="1800" dirty="0"/>
              <a:t>79 columns</a:t>
            </a:r>
          </a:p>
          <a:p>
            <a:r>
              <a:rPr lang="en-GB" sz="1800" dirty="0"/>
              <a:t>Includes road conditions, lighting, weather, speed limits</a:t>
            </a:r>
          </a:p>
          <a:p>
            <a:r>
              <a:rPr lang="en-GB" sz="1800" dirty="0"/>
              <a:t>Includes participant involvement (vehicles, pedestrians, cyclists)</a:t>
            </a:r>
          </a:p>
          <a:p>
            <a:r>
              <a:rPr lang="en-GB" sz="1800" dirty="0"/>
              <a:t>Includes injury counts</a:t>
            </a:r>
          </a:p>
          <a:p>
            <a:r>
              <a:rPr lang="en-GB" sz="1800" b="1" dirty="0"/>
              <a:t>No date/time fields</a:t>
            </a:r>
          </a:p>
          <a:p>
            <a:r>
              <a:rPr lang="en-GB" sz="1800" b="1" dirty="0"/>
              <a:t>No driver behaviour data</a:t>
            </a:r>
            <a:endParaRPr lang="en-GB" sz="1800" dirty="0"/>
          </a:p>
        </p:txBody>
      </p:sp>
      <p:sp>
        <p:nvSpPr>
          <p:cNvPr id="5" name="TextBox 4">
            <a:extLst>
              <a:ext uri="{FF2B5EF4-FFF2-40B4-BE49-F238E27FC236}">
                <a16:creationId xmlns:a16="http://schemas.microsoft.com/office/drawing/2014/main" id="{D23F1085-9D9D-687F-326F-BAEE62444039}"/>
              </a:ext>
            </a:extLst>
          </p:cNvPr>
          <p:cNvSpPr txBox="1"/>
          <p:nvPr/>
        </p:nvSpPr>
        <p:spPr>
          <a:xfrm>
            <a:off x="344512" y="5917131"/>
            <a:ext cx="8329587" cy="369332"/>
          </a:xfrm>
          <a:prstGeom prst="rect">
            <a:avLst/>
          </a:prstGeom>
          <a:noFill/>
        </p:spPr>
        <p:txBody>
          <a:bodyPr wrap="square">
            <a:spAutoFit/>
          </a:bodyPr>
          <a:lstStyle/>
          <a:p>
            <a:r>
              <a:rPr lang="en-NZ" dirty="0"/>
              <a:t>https://www.kaggle.com/datasets/neonninja/nzta-crash-analysis-system-cas/data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NZ" sz="3500">
                <a:solidFill>
                  <a:srgbClr val="FFFFFF"/>
                </a:solidFill>
              </a:rPr>
              <a:t>Data Cleaning &amp; Preparation</a:t>
            </a:r>
          </a:p>
        </p:txBody>
      </p:sp>
      <p:sp>
        <p:nvSpPr>
          <p:cNvPr id="3" name="Content Placeholder 2"/>
          <p:cNvSpPr>
            <a:spLocks noGrp="1"/>
          </p:cNvSpPr>
          <p:nvPr>
            <p:ph idx="1"/>
          </p:nvPr>
        </p:nvSpPr>
        <p:spPr>
          <a:xfrm>
            <a:off x="1028699" y="2318197"/>
            <a:ext cx="7293023" cy="3683358"/>
          </a:xfrm>
        </p:spPr>
        <p:txBody>
          <a:bodyPr anchor="ctr">
            <a:normAutofit/>
          </a:bodyPr>
          <a:lstStyle/>
          <a:p>
            <a:r>
              <a:rPr lang="en-NZ" sz="1800" dirty="0"/>
              <a:t>Dropped irrelevant columns (IDs, coordinates, high‑missingness fields)</a:t>
            </a:r>
          </a:p>
          <a:p>
            <a:r>
              <a:rPr lang="en-NZ" sz="1800" dirty="0"/>
              <a:t>Filled missing values</a:t>
            </a:r>
          </a:p>
          <a:p>
            <a:r>
              <a:rPr lang="en-NZ" sz="1800" dirty="0"/>
              <a:t>Renamed columns to consistent </a:t>
            </a:r>
            <a:r>
              <a:rPr lang="en-NZ" sz="1800" dirty="0" err="1"/>
              <a:t>snake_case</a:t>
            </a:r>
            <a:endParaRPr lang="en-NZ" sz="1800" dirty="0"/>
          </a:p>
          <a:p>
            <a:r>
              <a:rPr lang="en-NZ" sz="1800" dirty="0"/>
              <a:t>Engineered features:</a:t>
            </a:r>
          </a:p>
          <a:p>
            <a:pPr lvl="1"/>
            <a:r>
              <a:rPr lang="en-NZ" sz="1800" dirty="0" err="1"/>
              <a:t>effective_speed_limit</a:t>
            </a:r>
            <a:endParaRPr lang="en-NZ" sz="1800" dirty="0"/>
          </a:p>
          <a:p>
            <a:pPr lvl="1"/>
            <a:r>
              <a:rPr lang="en-NZ" sz="1800" dirty="0" err="1"/>
              <a:t>num_participant_types</a:t>
            </a:r>
            <a:endParaRPr lang="en-NZ" sz="1800" dirty="0"/>
          </a:p>
          <a:p>
            <a:pPr lvl="1"/>
            <a:r>
              <a:rPr lang="en-NZ" sz="1800" dirty="0" err="1"/>
              <a:t>weather_pair</a:t>
            </a:r>
            <a:endParaRPr lang="en-NZ" sz="1800" dirty="0"/>
          </a:p>
          <a:p>
            <a:pPr lvl="1"/>
            <a:r>
              <a:rPr lang="en-NZ" sz="1800" dirty="0" err="1"/>
              <a:t>severity_binary</a:t>
            </a:r>
            <a:endParaRPr lang="en-NZ" sz="1800" dirty="0"/>
          </a:p>
          <a:p>
            <a:r>
              <a:rPr lang="en-NZ" sz="1800" dirty="0"/>
              <a:t>Converted severity to binary target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Severity Distribution</a:t>
            </a:r>
          </a:p>
        </p:txBody>
      </p:sp>
      <p:pic>
        <p:nvPicPr>
          <p:cNvPr id="5" name="Picture 4">
            <a:extLst>
              <a:ext uri="{FF2B5EF4-FFF2-40B4-BE49-F238E27FC236}">
                <a16:creationId xmlns:a16="http://schemas.microsoft.com/office/drawing/2014/main" id="{50981A4D-254C-0A1E-CBC9-A5474089AB0C}"/>
              </a:ext>
            </a:extLst>
          </p:cNvPr>
          <p:cNvPicPr>
            <a:picLocks noChangeAspect="1"/>
          </p:cNvPicPr>
          <p:nvPr/>
        </p:nvPicPr>
        <p:blipFill>
          <a:blip r:embed="rId3"/>
          <a:stretch>
            <a:fillRect/>
          </a:stretch>
        </p:blipFill>
        <p:spPr>
          <a:xfrm>
            <a:off x="324168" y="2195892"/>
            <a:ext cx="8495662" cy="399296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Speed Limit Distribution</a:t>
            </a:r>
          </a:p>
        </p:txBody>
      </p:sp>
      <p:pic>
        <p:nvPicPr>
          <p:cNvPr id="4" name="Picture 3">
            <a:extLst>
              <a:ext uri="{FF2B5EF4-FFF2-40B4-BE49-F238E27FC236}">
                <a16:creationId xmlns:a16="http://schemas.microsoft.com/office/drawing/2014/main" id="{00E9A9DD-0E77-5966-12D8-815685640339}"/>
              </a:ext>
            </a:extLst>
          </p:cNvPr>
          <p:cNvPicPr>
            <a:picLocks noChangeAspect="1"/>
          </p:cNvPicPr>
          <p:nvPr/>
        </p:nvPicPr>
        <p:blipFill>
          <a:blip r:embed="rId3"/>
          <a:stretch>
            <a:fillRect/>
          </a:stretch>
        </p:blipFill>
        <p:spPr>
          <a:xfrm>
            <a:off x="324168" y="2270229"/>
            <a:ext cx="8495662" cy="38442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Lighting Conditions</a:t>
            </a:r>
          </a:p>
        </p:txBody>
      </p:sp>
      <p:pic>
        <p:nvPicPr>
          <p:cNvPr id="4" name="Picture 3">
            <a:extLst>
              <a:ext uri="{FF2B5EF4-FFF2-40B4-BE49-F238E27FC236}">
                <a16:creationId xmlns:a16="http://schemas.microsoft.com/office/drawing/2014/main" id="{6E5318B4-BAF5-17F0-6134-2DCA5F741B5E}"/>
              </a:ext>
            </a:extLst>
          </p:cNvPr>
          <p:cNvPicPr>
            <a:picLocks noChangeAspect="1"/>
          </p:cNvPicPr>
          <p:nvPr/>
        </p:nvPicPr>
        <p:blipFill>
          <a:blip r:embed="rId3"/>
          <a:stretch>
            <a:fillRect/>
          </a:stretch>
        </p:blipFill>
        <p:spPr>
          <a:xfrm>
            <a:off x="324168" y="2333947"/>
            <a:ext cx="8495662" cy="37168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24D21A-4709-06CA-9A53-A274640F29CA}"/>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45727E7-1A97-A65A-D959-977FDA4E01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3C6CF6C-47F6-7CDB-EAC4-4F6FF962A6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14FDD62-1132-EE8B-E0AD-657E28AA29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2B2153B-F944-F8DF-462A-27AAFD2C6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305672-8CE9-7DFE-05A1-5E2861E58F0A}"/>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dirty="0">
                <a:solidFill>
                  <a:srgbClr val="FFFFFF"/>
                </a:solidFill>
              </a:rPr>
              <a:t>Severity vs Speed Limit</a:t>
            </a:r>
            <a:endParaRPr lang="en-US" sz="3500" kern="1200" dirty="0">
              <a:solidFill>
                <a:srgbClr val="FFFFFF"/>
              </a:solidFill>
              <a:latin typeface="+mj-lt"/>
              <a:ea typeface="+mj-ea"/>
              <a:cs typeface="+mj-cs"/>
            </a:endParaRPr>
          </a:p>
        </p:txBody>
      </p:sp>
      <p:pic>
        <p:nvPicPr>
          <p:cNvPr id="3" name="Picture 2">
            <a:extLst>
              <a:ext uri="{FF2B5EF4-FFF2-40B4-BE49-F238E27FC236}">
                <a16:creationId xmlns:a16="http://schemas.microsoft.com/office/drawing/2014/main" id="{5F7C1907-9687-69C4-D40A-011B2F4AC98A}"/>
              </a:ext>
            </a:extLst>
          </p:cNvPr>
          <p:cNvPicPr>
            <a:picLocks noChangeAspect="1"/>
          </p:cNvPicPr>
          <p:nvPr/>
        </p:nvPicPr>
        <p:blipFill>
          <a:blip r:embed="rId3"/>
          <a:stretch>
            <a:fillRect/>
          </a:stretch>
        </p:blipFill>
        <p:spPr>
          <a:xfrm>
            <a:off x="2069844" y="1799570"/>
            <a:ext cx="5004311" cy="3215273"/>
          </a:xfrm>
          <a:prstGeom prst="rect">
            <a:avLst/>
          </a:prstGeom>
        </p:spPr>
      </p:pic>
      <p:sp>
        <p:nvSpPr>
          <p:cNvPr id="4" name="TextBox 3">
            <a:extLst>
              <a:ext uri="{FF2B5EF4-FFF2-40B4-BE49-F238E27FC236}">
                <a16:creationId xmlns:a16="http://schemas.microsoft.com/office/drawing/2014/main" id="{DC9E0AFE-E82A-3334-C687-18C6620120F4}"/>
              </a:ext>
            </a:extLst>
          </p:cNvPr>
          <p:cNvSpPr txBox="1"/>
          <p:nvPr/>
        </p:nvSpPr>
        <p:spPr>
          <a:xfrm>
            <a:off x="1455192" y="5230199"/>
            <a:ext cx="6249619" cy="1119982"/>
          </a:xfrm>
          <a:prstGeom prst="rect">
            <a:avLst/>
          </a:prstGeom>
        </p:spPr>
        <p:txBody>
          <a:bodyPr vert="horz" lIns="91440" tIns="45720" rIns="91440" bIns="45720" rtlCol="0" anchor="ctr">
            <a:noAutofit/>
          </a:bodyPr>
          <a:lstStyle/>
          <a:p>
            <a:pPr marL="342900" indent="-228600" defTabSz="914400">
              <a:lnSpc>
                <a:spcPct val="90000"/>
              </a:lnSpc>
              <a:spcAft>
                <a:spcPts val="600"/>
              </a:spcAft>
              <a:buFont typeface="Arial" panose="020B0604020202020204" pitchFamily="34" charset="0"/>
              <a:buChar char="•"/>
            </a:pPr>
            <a:r>
              <a:rPr lang="en-US" dirty="0"/>
              <a:t>Speed limit distributions for severe and non‑severe crashes are surprisingly similar</a:t>
            </a:r>
          </a:p>
          <a:p>
            <a:pPr marL="342900" indent="-228600" defTabSz="914400">
              <a:lnSpc>
                <a:spcPct val="90000"/>
              </a:lnSpc>
              <a:spcAft>
                <a:spcPts val="600"/>
              </a:spcAft>
              <a:buFont typeface="Arial" panose="020B0604020202020204" pitchFamily="34" charset="0"/>
              <a:buChar char="•"/>
            </a:pPr>
            <a:r>
              <a:rPr lang="en-US" dirty="0"/>
              <a:t>Median and IQR overlap heavily</a:t>
            </a:r>
          </a:p>
          <a:p>
            <a:pPr marL="342900" indent="-228600" defTabSz="914400">
              <a:lnSpc>
                <a:spcPct val="90000"/>
              </a:lnSpc>
              <a:spcAft>
                <a:spcPts val="600"/>
              </a:spcAft>
              <a:buFont typeface="Arial" panose="020B0604020202020204" pitchFamily="34" charset="0"/>
              <a:buChar char="•"/>
            </a:pPr>
            <a:r>
              <a:rPr lang="en-US" dirty="0"/>
              <a:t>Speed limit alone is not a strong discriminator of severity</a:t>
            </a:r>
          </a:p>
        </p:txBody>
      </p:sp>
    </p:spTree>
    <p:extLst>
      <p:ext uri="{BB962C8B-B14F-4D97-AF65-F5344CB8AC3E}">
        <p14:creationId xmlns:p14="http://schemas.microsoft.com/office/powerpoint/2010/main" val="892266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0585A1-926C-6DEA-D1C9-DF5B4CFBBAC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3626D9A-956A-090D-4304-F3171A1457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DFC3E11-375E-0E31-8637-EACD12A4B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70277D8-3CC4-EB77-0A63-7C28A61CE4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A2D8B7E-C0FD-74B1-3441-510D2CE5E6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F86099-BCAA-0505-9664-E33E745DE388}"/>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a:solidFill>
                  <a:srgbClr val="FFFFFF"/>
                </a:solidFill>
              </a:rPr>
              <a:t>Participant Type Severity %s</a:t>
            </a:r>
            <a:endParaRPr lang="en-US" sz="3500"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7F9E19A8-B4EA-2E0E-AFF8-15671F98D932}"/>
              </a:ext>
            </a:extLst>
          </p:cNvPr>
          <p:cNvSpPr txBox="1"/>
          <p:nvPr/>
        </p:nvSpPr>
        <p:spPr>
          <a:xfrm>
            <a:off x="355600" y="4823799"/>
            <a:ext cx="8407400" cy="1989363"/>
          </a:xfrm>
          <a:prstGeom prst="rect">
            <a:avLst/>
          </a:prstGeom>
        </p:spPr>
        <p:txBody>
          <a:bodyPr vert="horz" lIns="91440" tIns="45720" rIns="91440" bIns="45720" rtlCol="0" anchor="ctr">
            <a:noAutofit/>
          </a:bodyPr>
          <a:lstStyle/>
          <a:p>
            <a:pPr marL="285750" indent="-228600" defTabSz="914400">
              <a:lnSpc>
                <a:spcPct val="90000"/>
              </a:lnSpc>
              <a:spcAft>
                <a:spcPts val="600"/>
              </a:spcAft>
              <a:buFont typeface="Arial" panose="020B0604020202020204" pitchFamily="34" charset="0"/>
              <a:buChar char="•"/>
            </a:pPr>
            <a:r>
              <a:rPr lang="en-US" dirty="0"/>
              <a:t>Motorcycles and pedestrians show the highest proportions of severe crashes</a:t>
            </a:r>
          </a:p>
          <a:p>
            <a:pPr marL="285750" indent="-228600" defTabSz="914400">
              <a:lnSpc>
                <a:spcPct val="90000"/>
              </a:lnSpc>
              <a:spcAft>
                <a:spcPts val="600"/>
              </a:spcAft>
              <a:buFont typeface="Arial" panose="020B0604020202020204" pitchFamily="34" charset="0"/>
              <a:buChar char="•"/>
            </a:pPr>
            <a:r>
              <a:rPr lang="en-US" dirty="0"/>
              <a:t>Cyclists and moped riders also have higher severity percentages</a:t>
            </a:r>
          </a:p>
          <a:p>
            <a:pPr marL="285750" indent="-228600" defTabSz="914400">
              <a:lnSpc>
                <a:spcPct val="90000"/>
              </a:lnSpc>
              <a:spcAft>
                <a:spcPts val="600"/>
              </a:spcAft>
              <a:buFont typeface="Arial" panose="020B0604020202020204" pitchFamily="34" charset="0"/>
              <a:buChar char="•"/>
            </a:pPr>
            <a:r>
              <a:rPr lang="en-US" dirty="0"/>
              <a:t>Larger vehicles (trucks, vans, buses, SUVs) show lower severity proportions</a:t>
            </a:r>
          </a:p>
          <a:p>
            <a:pPr marL="285750" indent="-228600" defTabSz="914400">
              <a:lnSpc>
                <a:spcPct val="90000"/>
              </a:lnSpc>
              <a:spcAft>
                <a:spcPts val="600"/>
              </a:spcAft>
              <a:buFont typeface="Arial" panose="020B0604020202020204" pitchFamily="34" charset="0"/>
              <a:buChar char="•"/>
            </a:pPr>
            <a:r>
              <a:rPr lang="en-US" dirty="0"/>
              <a:t>Car and station wagon crashes dominate in volume but have lower severe‑crash percentages</a:t>
            </a:r>
          </a:p>
          <a:p>
            <a:pPr marL="285750" indent="-228600" defTabSz="914400">
              <a:lnSpc>
                <a:spcPct val="90000"/>
              </a:lnSpc>
              <a:spcAft>
                <a:spcPts val="600"/>
              </a:spcAft>
              <a:buFont typeface="Arial" panose="020B0604020202020204" pitchFamily="34" charset="0"/>
              <a:buChar char="•"/>
            </a:pPr>
            <a:r>
              <a:rPr lang="en-US" dirty="0"/>
              <a:t>Highlights the vulnerability of unprotected or lightly protected road users</a:t>
            </a:r>
          </a:p>
        </p:txBody>
      </p:sp>
      <p:pic>
        <p:nvPicPr>
          <p:cNvPr id="4" name="Picture 3">
            <a:extLst>
              <a:ext uri="{FF2B5EF4-FFF2-40B4-BE49-F238E27FC236}">
                <a16:creationId xmlns:a16="http://schemas.microsoft.com/office/drawing/2014/main" id="{06F9F78B-B552-5629-2C6C-E7E6BD11DCEE}"/>
              </a:ext>
            </a:extLst>
          </p:cNvPr>
          <p:cNvPicPr>
            <a:picLocks noChangeAspect="1"/>
          </p:cNvPicPr>
          <p:nvPr/>
        </p:nvPicPr>
        <p:blipFill>
          <a:blip r:embed="rId3"/>
          <a:stretch>
            <a:fillRect/>
          </a:stretch>
        </p:blipFill>
        <p:spPr>
          <a:xfrm>
            <a:off x="0" y="1644645"/>
            <a:ext cx="9144000" cy="3568709"/>
          </a:xfrm>
          <a:prstGeom prst="rect">
            <a:avLst/>
          </a:prstGeom>
        </p:spPr>
      </p:pic>
    </p:spTree>
    <p:extLst>
      <p:ext uri="{BB962C8B-B14F-4D97-AF65-F5344CB8AC3E}">
        <p14:creationId xmlns:p14="http://schemas.microsoft.com/office/powerpoint/2010/main" val="3148995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0FE4C3-C5B8-8EBA-D19D-AF38C3A5BD89}"/>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EC9A94-FEAD-431C-F8C7-0EC1772962BA}"/>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Effective Speed Limit %s</a:t>
            </a:r>
            <a:endParaRPr lang="en-US" sz="3500" kern="1200" dirty="0">
              <a:solidFill>
                <a:srgbClr val="FFFFFF"/>
              </a:solidFill>
              <a:latin typeface="+mj-lt"/>
              <a:ea typeface="+mj-ea"/>
              <a:cs typeface="+mj-cs"/>
            </a:endParaRPr>
          </a:p>
        </p:txBody>
      </p:sp>
      <p:pic>
        <p:nvPicPr>
          <p:cNvPr id="7" name="Picture 6">
            <a:extLst>
              <a:ext uri="{FF2B5EF4-FFF2-40B4-BE49-F238E27FC236}">
                <a16:creationId xmlns:a16="http://schemas.microsoft.com/office/drawing/2014/main" id="{F667A598-B926-ACC0-48EF-8B891CC9CA54}"/>
              </a:ext>
            </a:extLst>
          </p:cNvPr>
          <p:cNvPicPr>
            <a:picLocks noChangeAspect="1"/>
          </p:cNvPicPr>
          <p:nvPr/>
        </p:nvPicPr>
        <p:blipFill>
          <a:blip r:embed="rId3"/>
          <a:stretch>
            <a:fillRect/>
          </a:stretch>
        </p:blipFill>
        <p:spPr>
          <a:xfrm>
            <a:off x="1334067" y="1966293"/>
            <a:ext cx="6475864" cy="4452160"/>
          </a:xfrm>
          <a:prstGeom prst="rect">
            <a:avLst/>
          </a:prstGeom>
        </p:spPr>
      </p:pic>
    </p:spTree>
    <p:extLst>
      <p:ext uri="{BB962C8B-B14F-4D97-AF65-F5344CB8AC3E}">
        <p14:creationId xmlns:p14="http://schemas.microsoft.com/office/powerpoint/2010/main" val="3351647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DEB1FD-0BA5-114D-46A7-AD92D10E5B5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2703875-B431-D540-C062-6240CA9EA2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CC5452F-E4C5-C0AD-0B95-E670A349B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265C743-2C5E-2144-D0BF-4BCB2CB1DD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DA9997A-15F7-6010-8F69-F61319EF0A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980180-1531-F6EF-F843-9D6DE2A32D1E}"/>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600" dirty="0">
                <a:solidFill>
                  <a:srgbClr val="FFFFFF"/>
                </a:solidFill>
              </a:rPr>
              <a:t>Correlation Heatmap</a:t>
            </a:r>
            <a:endParaRPr lang="en-US" sz="3500" kern="1200" dirty="0">
              <a:solidFill>
                <a:srgbClr val="FFFFFF"/>
              </a:solidFill>
              <a:latin typeface="+mj-lt"/>
              <a:ea typeface="+mj-ea"/>
              <a:cs typeface="+mj-cs"/>
            </a:endParaRPr>
          </a:p>
        </p:txBody>
      </p:sp>
      <p:pic>
        <p:nvPicPr>
          <p:cNvPr id="3" name="Picture 2">
            <a:extLst>
              <a:ext uri="{FF2B5EF4-FFF2-40B4-BE49-F238E27FC236}">
                <a16:creationId xmlns:a16="http://schemas.microsoft.com/office/drawing/2014/main" id="{D5BAB2FA-DEBE-C607-B0D9-F8A9A5FAC727}"/>
              </a:ext>
            </a:extLst>
          </p:cNvPr>
          <p:cNvPicPr>
            <a:picLocks noChangeAspect="1"/>
          </p:cNvPicPr>
          <p:nvPr/>
        </p:nvPicPr>
        <p:blipFill>
          <a:blip r:embed="rId3"/>
          <a:stretch>
            <a:fillRect/>
          </a:stretch>
        </p:blipFill>
        <p:spPr>
          <a:xfrm>
            <a:off x="1662321" y="1800323"/>
            <a:ext cx="5419311" cy="4809639"/>
          </a:xfrm>
          <a:prstGeom prst="rect">
            <a:avLst/>
          </a:prstGeom>
        </p:spPr>
      </p:pic>
    </p:spTree>
    <p:extLst>
      <p:ext uri="{BB962C8B-B14F-4D97-AF65-F5344CB8AC3E}">
        <p14:creationId xmlns:p14="http://schemas.microsoft.com/office/powerpoint/2010/main" val="2304858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Modelling Approach</a:t>
            </a:r>
          </a:p>
        </p:txBody>
      </p:sp>
      <p:sp>
        <p:nvSpPr>
          <p:cNvPr id="34" name="TextBox 33">
            <a:extLst>
              <a:ext uri="{FF2B5EF4-FFF2-40B4-BE49-F238E27FC236}">
                <a16:creationId xmlns:a16="http://schemas.microsoft.com/office/drawing/2014/main" id="{A45F50C3-27FD-08D7-4C14-B662D2867103}"/>
              </a:ext>
            </a:extLst>
          </p:cNvPr>
          <p:cNvSpPr txBox="1"/>
          <p:nvPr/>
        </p:nvSpPr>
        <p:spPr>
          <a:xfrm>
            <a:off x="1028699" y="2318197"/>
            <a:ext cx="7293023" cy="3683358"/>
          </a:xfrm>
          <a:prstGeom prst="rect">
            <a:avLst/>
          </a:prstGeom>
        </p:spPr>
        <p:txBody>
          <a:bodyPr vert="horz" lIns="91440" tIns="45720" rIns="91440" bIns="45720" rtlCol="0" anchor="ctr">
            <a:normAutofit/>
          </a:bodyPr>
          <a:lstStyle/>
          <a:p>
            <a:pPr marL="285750" indent="-228600" defTabSz="914400">
              <a:lnSpc>
                <a:spcPct val="90000"/>
              </a:lnSpc>
              <a:spcAft>
                <a:spcPts val="600"/>
              </a:spcAft>
              <a:buFont typeface="Arial" panose="020B0604020202020204" pitchFamily="34" charset="0"/>
              <a:buChar char="•"/>
            </a:pPr>
            <a:r>
              <a:rPr lang="en-US" dirty="0"/>
              <a:t>Three models evaluated: Logistic Regression, SVM, Gaussian Naïve Bayes</a:t>
            </a:r>
          </a:p>
          <a:p>
            <a:pPr marL="285750" indent="-228600" defTabSz="914400">
              <a:lnSpc>
                <a:spcPct val="90000"/>
              </a:lnSpc>
              <a:spcAft>
                <a:spcPts val="600"/>
              </a:spcAft>
              <a:buFont typeface="Arial" panose="020B0604020202020204" pitchFamily="34" charset="0"/>
              <a:buChar char="•"/>
            </a:pPr>
            <a:r>
              <a:rPr lang="en-US" dirty="0"/>
              <a:t>Two preprocessing pipelines:</a:t>
            </a:r>
          </a:p>
          <a:p>
            <a:pPr marL="742950" lvl="1" indent="-228600" defTabSz="914400">
              <a:lnSpc>
                <a:spcPct val="90000"/>
              </a:lnSpc>
              <a:spcAft>
                <a:spcPts val="600"/>
              </a:spcAft>
              <a:buFont typeface="Arial" panose="020B0604020202020204" pitchFamily="34" charset="0"/>
              <a:buChar char="•"/>
            </a:pPr>
            <a:r>
              <a:rPr lang="en-US" b="1" dirty="0"/>
              <a:t>Sparse</a:t>
            </a:r>
            <a:r>
              <a:rPr lang="en-US" dirty="0"/>
              <a:t> pipeline for LR and SVM</a:t>
            </a:r>
          </a:p>
          <a:p>
            <a:pPr marL="742950" lvl="1" indent="-228600" defTabSz="914400">
              <a:lnSpc>
                <a:spcPct val="90000"/>
              </a:lnSpc>
              <a:spcAft>
                <a:spcPts val="600"/>
              </a:spcAft>
              <a:buFont typeface="Arial" panose="020B0604020202020204" pitchFamily="34" charset="0"/>
              <a:buChar char="•"/>
            </a:pPr>
            <a:r>
              <a:rPr lang="en-US" b="1" dirty="0"/>
              <a:t>Dense</a:t>
            </a:r>
            <a:r>
              <a:rPr lang="en-US" dirty="0"/>
              <a:t> pipeline for </a:t>
            </a:r>
            <a:r>
              <a:rPr lang="en-US" dirty="0" err="1"/>
              <a:t>GaussianNB</a:t>
            </a:r>
            <a:endParaRPr lang="en-US" dirty="0"/>
          </a:p>
          <a:p>
            <a:pPr marL="285750" indent="-228600" defTabSz="914400">
              <a:lnSpc>
                <a:spcPct val="90000"/>
              </a:lnSpc>
              <a:spcAft>
                <a:spcPts val="600"/>
              </a:spcAft>
              <a:buFont typeface="Arial" panose="020B0604020202020204" pitchFamily="34" charset="0"/>
              <a:buChar char="•"/>
            </a:pPr>
            <a:r>
              <a:rPr lang="en-US" dirty="0"/>
              <a:t>Class balancing applied to address minority severe‑crash class</a:t>
            </a:r>
          </a:p>
          <a:p>
            <a:pPr marL="285750" indent="-228600" defTabSz="914400">
              <a:lnSpc>
                <a:spcPct val="90000"/>
              </a:lnSpc>
              <a:spcAft>
                <a:spcPts val="600"/>
              </a:spcAft>
              <a:buFont typeface="Arial" panose="020B0604020202020204" pitchFamily="34" charset="0"/>
              <a:buChar char="•"/>
            </a:pPr>
            <a:r>
              <a:rPr lang="en-US" dirty="0"/>
              <a:t>Hyperparameter tuning avoided due to runtime constraints</a:t>
            </a:r>
          </a:p>
          <a:p>
            <a:pPr marL="285750" indent="-228600" defTabSz="914400">
              <a:lnSpc>
                <a:spcPct val="90000"/>
              </a:lnSpc>
              <a:spcAft>
                <a:spcPts val="600"/>
              </a:spcAft>
              <a:buFont typeface="Arial" panose="020B0604020202020204" pitchFamily="34" charset="0"/>
              <a:buChar char="•"/>
            </a:pPr>
            <a:r>
              <a:rPr lang="en-US" dirty="0"/>
              <a:t>Final models </a:t>
            </a:r>
            <a:r>
              <a:rPr lang="en-US" dirty="0" err="1"/>
              <a:t>prioritised</a:t>
            </a:r>
            <a:r>
              <a:rPr lang="en-US" dirty="0"/>
              <a:t> </a:t>
            </a:r>
            <a:r>
              <a:rPr lang="en-US" b="1" dirty="0"/>
              <a:t>speed, stability, and interpretability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0793B3-C1F1-C961-EAA7-37732439DF44}"/>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93DE6D76-343B-37E5-9E20-1484D1085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D1F37E2-766E-0F36-3058-BB3B013D2E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AA8920D-8018-4561-C897-2CB59D53C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BA5B0FB9-B9F1-2911-C57B-399C50FE97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4CE96082-CCC2-A1E1-58C6-5424DAEAF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74756D-F8FB-D116-9E89-189A1BCCC228}"/>
              </a:ext>
            </a:extLst>
          </p:cNvPr>
          <p:cNvSpPr>
            <a:spLocks noGrp="1"/>
          </p:cNvSpPr>
          <p:nvPr>
            <p:ph type="title"/>
          </p:nvPr>
        </p:nvSpPr>
        <p:spPr>
          <a:xfrm>
            <a:off x="1028699" y="294538"/>
            <a:ext cx="7421963" cy="1033669"/>
          </a:xfrm>
        </p:spPr>
        <p:txBody>
          <a:bodyPr vert="horz" lIns="91440" tIns="45720" rIns="91440" bIns="45720" rtlCol="0" anchor="ctr">
            <a:normAutofit/>
          </a:bodyPr>
          <a:lstStyle/>
          <a:p>
            <a:pPr algn="l" defTabSz="914400">
              <a:lnSpc>
                <a:spcPct val="90000"/>
              </a:lnSpc>
            </a:pPr>
            <a:r>
              <a:rPr lang="en-US" sz="3500" dirty="0">
                <a:solidFill>
                  <a:srgbClr val="FFFFFF"/>
                </a:solidFill>
              </a:rPr>
              <a:t>Model Performance</a:t>
            </a:r>
            <a:endParaRPr lang="en-US" sz="3500" kern="1200" dirty="0">
              <a:solidFill>
                <a:srgbClr val="FFFFFF"/>
              </a:solidFill>
              <a:latin typeface="+mj-lt"/>
              <a:ea typeface="+mj-ea"/>
              <a:cs typeface="+mj-cs"/>
            </a:endParaRPr>
          </a:p>
        </p:txBody>
      </p:sp>
      <p:pic>
        <p:nvPicPr>
          <p:cNvPr id="3" name="Picture 2">
            <a:extLst>
              <a:ext uri="{FF2B5EF4-FFF2-40B4-BE49-F238E27FC236}">
                <a16:creationId xmlns:a16="http://schemas.microsoft.com/office/drawing/2014/main" id="{819EFB14-9101-32A1-73E7-C9B3429C99BC}"/>
              </a:ext>
            </a:extLst>
          </p:cNvPr>
          <p:cNvPicPr>
            <a:picLocks noChangeAspect="1"/>
          </p:cNvPicPr>
          <p:nvPr/>
        </p:nvPicPr>
        <p:blipFill>
          <a:blip r:embed="rId3"/>
          <a:stretch>
            <a:fillRect/>
          </a:stretch>
        </p:blipFill>
        <p:spPr>
          <a:xfrm>
            <a:off x="254000" y="1832338"/>
            <a:ext cx="8563481" cy="3427005"/>
          </a:xfrm>
          <a:prstGeom prst="rect">
            <a:avLst/>
          </a:prstGeom>
        </p:spPr>
      </p:pic>
      <p:sp>
        <p:nvSpPr>
          <p:cNvPr id="4" name="Rectangle 1">
            <a:extLst>
              <a:ext uri="{FF2B5EF4-FFF2-40B4-BE49-F238E27FC236}">
                <a16:creationId xmlns:a16="http://schemas.microsoft.com/office/drawing/2014/main" id="{AB47F076-A60B-0862-5886-4E1913261937}"/>
              </a:ext>
            </a:extLst>
          </p:cNvPr>
          <p:cNvSpPr>
            <a:spLocks noChangeArrowheads="1"/>
          </p:cNvSpPr>
          <p:nvPr/>
        </p:nvSpPr>
        <p:spPr bwMode="auto">
          <a:xfrm>
            <a:off x="152399" y="4607898"/>
            <a:ext cx="8665081" cy="19555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L="285750" lvl="0" indent="-228600" defTabSz="914400" fontAlgn="base">
              <a:lnSpc>
                <a:spcPct val="90000"/>
              </a:lnSpc>
              <a:spcBef>
                <a:spcPct val="0"/>
              </a:spcBef>
              <a:spcAft>
                <a:spcPts val="600"/>
              </a:spcAft>
              <a:buFont typeface="Arial" panose="020B0604020202020204" pitchFamily="34" charset="0"/>
              <a:buChar char="•"/>
            </a:pPr>
            <a:r>
              <a:rPr lang="en-US" altLang="en-US" dirty="0"/>
              <a:t>Logistic Regression and Linear SVM deliver </a:t>
            </a:r>
            <a:r>
              <a:rPr lang="en-US" altLang="en-US" b="1" dirty="0"/>
              <a:t>near‑perfect performance across all metrics</a:t>
            </a:r>
            <a:endParaRPr kumimoji="0" lang="en-US" altLang="en-US" b="0" i="0" u="none" strike="noStrike" cap="none" normalizeH="0" baseline="0" dirty="0">
              <a:ln>
                <a:noFill/>
              </a:ln>
              <a:effectLst/>
            </a:endParaRPr>
          </a:p>
          <a:p>
            <a:pPr marL="28575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b="0" i="0" u="none" strike="noStrike" cap="none" normalizeH="0" baseline="0" dirty="0" err="1">
                <a:ln>
                  <a:noFill/>
                </a:ln>
                <a:effectLst/>
              </a:rPr>
              <a:t>GaussianNB</a:t>
            </a:r>
            <a:r>
              <a:rPr kumimoji="0" lang="en-US" altLang="en-US" b="0" i="0" u="none" strike="noStrike" cap="none" normalizeH="0" baseline="0" dirty="0">
                <a:ln>
                  <a:noFill/>
                </a:ln>
                <a:effectLst/>
              </a:rPr>
              <a:t> achieves </a:t>
            </a:r>
            <a:r>
              <a:rPr kumimoji="0" lang="en-US" altLang="en-US" b="1" i="0" u="none" strike="noStrike" cap="none" normalizeH="0" baseline="0" dirty="0">
                <a:ln>
                  <a:noFill/>
                </a:ln>
                <a:effectLst/>
              </a:rPr>
              <a:t>very high recall and ROC‑AUC</a:t>
            </a:r>
            <a:r>
              <a:rPr kumimoji="0" lang="en-US" altLang="en-US" b="0" i="0" u="none" strike="noStrike" cap="none" normalizeH="0" baseline="0" dirty="0">
                <a:ln>
                  <a:noFill/>
                </a:ln>
                <a:effectLst/>
              </a:rPr>
              <a:t>, but </a:t>
            </a:r>
            <a:r>
              <a:rPr kumimoji="0" lang="en-US" altLang="en-US" b="1" i="0" u="none" strike="noStrike" cap="none" normalizeH="0" baseline="0" dirty="0">
                <a:ln>
                  <a:noFill/>
                </a:ln>
                <a:effectLst/>
              </a:rPr>
              <a:t>precision and F1 collapse</a:t>
            </a:r>
            <a:r>
              <a:rPr kumimoji="0" lang="en-US" altLang="en-US" b="0" i="0" u="none" strike="noStrike" cap="none" normalizeH="0" baseline="0" dirty="0">
                <a:ln>
                  <a:noFill/>
                </a:ln>
                <a:effectLst/>
              </a:rPr>
              <a:t> </a:t>
            </a:r>
          </a:p>
          <a:p>
            <a:pPr marL="28575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b="0" i="0" u="none" strike="noStrike" cap="none" normalizeH="0" baseline="0" dirty="0">
                <a:ln>
                  <a:noFill/>
                </a:ln>
                <a:effectLst/>
              </a:rPr>
              <a:t>Naïve Bayes struggles due to strong feature‑distribution assumptions </a:t>
            </a:r>
          </a:p>
          <a:p>
            <a:pPr marL="28575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b="0" i="0" u="none" strike="noStrike" cap="none" normalizeH="0" baseline="0" dirty="0">
                <a:ln>
                  <a:noFill/>
                </a:ln>
                <a:effectLst/>
              </a:rPr>
              <a:t>Final model choice </a:t>
            </a:r>
            <a:r>
              <a:rPr kumimoji="0" lang="en-US" altLang="en-US" b="0" i="0" u="none" strike="noStrike" cap="none" normalizeH="0" baseline="0" dirty="0" err="1">
                <a:ln>
                  <a:noFill/>
                </a:ln>
                <a:effectLst/>
              </a:rPr>
              <a:t>prioritises</a:t>
            </a:r>
            <a:r>
              <a:rPr kumimoji="0" lang="en-US" altLang="en-US" b="0" i="0" u="none" strike="noStrike" cap="none" normalizeH="0" baseline="0" dirty="0">
                <a:ln>
                  <a:noFill/>
                </a:ln>
                <a:effectLst/>
              </a:rPr>
              <a:t> </a:t>
            </a:r>
            <a:r>
              <a:rPr kumimoji="0" lang="en-US" altLang="en-US" b="1" i="0" u="none" strike="noStrike" cap="none" normalizeH="0" baseline="0" dirty="0">
                <a:ln>
                  <a:noFill/>
                </a:ln>
                <a:effectLst/>
              </a:rPr>
              <a:t>balanced performance and interpretability</a:t>
            </a:r>
            <a:r>
              <a:rPr kumimoji="0" lang="en-US" altLang="en-US" b="0" i="0" u="none" strike="noStrike" cap="none" normalizeH="0" baseline="0" dirty="0">
                <a:ln>
                  <a:noFill/>
                </a:ln>
                <a:effectLst/>
              </a:rPr>
              <a:t> </a:t>
            </a:r>
          </a:p>
        </p:txBody>
      </p:sp>
    </p:spTree>
    <p:extLst>
      <p:ext uri="{BB962C8B-B14F-4D97-AF65-F5344CB8AC3E}">
        <p14:creationId xmlns:p14="http://schemas.microsoft.com/office/powerpoint/2010/main" val="3122863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0D1C5B3-B60D-4696-AE60-100D5EC8A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73EDDF53-0851-48D4-A466-6FE0DCE91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1" cy="1576446"/>
            <a:chOff x="0" y="0"/>
            <a:chExt cx="12192002" cy="1576446"/>
          </a:xfrm>
        </p:grpSpPr>
        <p:sp>
          <p:nvSpPr>
            <p:cNvPr id="23" name="Rectangle 22">
              <a:extLst>
                <a:ext uri="{FF2B5EF4-FFF2-40B4-BE49-F238E27FC236}">
                  <a16:creationId xmlns:a16="http://schemas.microsoft.com/office/drawing/2014/main" id="{D074D04C-85E8-4A3E-90D7-86A10AE048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097020A-86B6-43BD-A2AA-66AE72CA31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20C6C743-32FE-4E24-AA22-45D3B1C7C0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1028700" y="407695"/>
            <a:ext cx="7293022" cy="834251"/>
          </a:xfrm>
        </p:spPr>
        <p:txBody>
          <a:bodyPr vert="horz" lIns="91440" tIns="45720" rIns="91440" bIns="45720" rtlCol="0" anchor="ctr">
            <a:normAutofit/>
          </a:bodyPr>
          <a:lstStyle/>
          <a:p>
            <a:pPr algn="l" defTabSz="914400">
              <a:lnSpc>
                <a:spcPct val="90000"/>
              </a:lnSpc>
            </a:pPr>
            <a:r>
              <a:rPr lang="en-US" sz="3500" dirty="0">
                <a:solidFill>
                  <a:srgbClr val="FFFFFF"/>
                </a:solidFill>
              </a:rPr>
              <a:t>Confusion Matrices</a:t>
            </a:r>
          </a:p>
        </p:txBody>
      </p:sp>
      <p:pic>
        <p:nvPicPr>
          <p:cNvPr id="13" name="Picture 12">
            <a:extLst>
              <a:ext uri="{FF2B5EF4-FFF2-40B4-BE49-F238E27FC236}">
                <a16:creationId xmlns:a16="http://schemas.microsoft.com/office/drawing/2014/main" id="{E76726CE-49C7-0B8F-27AC-7EB6882FC7DC}"/>
              </a:ext>
            </a:extLst>
          </p:cNvPr>
          <p:cNvPicPr>
            <a:picLocks noChangeAspect="1"/>
          </p:cNvPicPr>
          <p:nvPr/>
        </p:nvPicPr>
        <p:blipFill>
          <a:blip r:embed="rId3"/>
          <a:stretch>
            <a:fillRect/>
          </a:stretch>
        </p:blipFill>
        <p:spPr>
          <a:xfrm>
            <a:off x="3741571" y="1815057"/>
            <a:ext cx="2986283" cy="2179987"/>
          </a:xfrm>
          <a:prstGeom prst="rect">
            <a:avLst/>
          </a:prstGeom>
        </p:spPr>
      </p:pic>
      <p:pic>
        <p:nvPicPr>
          <p:cNvPr id="15" name="Picture 14">
            <a:extLst>
              <a:ext uri="{FF2B5EF4-FFF2-40B4-BE49-F238E27FC236}">
                <a16:creationId xmlns:a16="http://schemas.microsoft.com/office/drawing/2014/main" id="{EB2C6416-BF4F-4C9B-07FB-EFBF64440744}"/>
              </a:ext>
            </a:extLst>
          </p:cNvPr>
          <p:cNvPicPr>
            <a:picLocks noChangeAspect="1"/>
          </p:cNvPicPr>
          <p:nvPr/>
        </p:nvPicPr>
        <p:blipFill>
          <a:blip r:embed="rId4"/>
          <a:stretch>
            <a:fillRect/>
          </a:stretch>
        </p:blipFill>
        <p:spPr>
          <a:xfrm>
            <a:off x="5608472" y="4233655"/>
            <a:ext cx="3129128" cy="2323378"/>
          </a:xfrm>
          <a:prstGeom prst="rect">
            <a:avLst/>
          </a:prstGeom>
        </p:spPr>
      </p:pic>
      <p:pic>
        <p:nvPicPr>
          <p:cNvPr id="11" name="Picture 10">
            <a:extLst>
              <a:ext uri="{FF2B5EF4-FFF2-40B4-BE49-F238E27FC236}">
                <a16:creationId xmlns:a16="http://schemas.microsoft.com/office/drawing/2014/main" id="{C9CCB8AD-3018-20A4-2E1F-6E561FA6E6B0}"/>
              </a:ext>
            </a:extLst>
          </p:cNvPr>
          <p:cNvPicPr>
            <a:picLocks noChangeAspect="1"/>
          </p:cNvPicPr>
          <p:nvPr/>
        </p:nvPicPr>
        <p:blipFill>
          <a:blip r:embed="rId5"/>
          <a:stretch>
            <a:fillRect/>
          </a:stretch>
        </p:blipFill>
        <p:spPr>
          <a:xfrm>
            <a:off x="406400" y="1815057"/>
            <a:ext cx="2895600" cy="2113788"/>
          </a:xfrm>
          <a:prstGeom prst="rect">
            <a:avLst/>
          </a:prstGeom>
        </p:spPr>
      </p:pic>
      <p:sp>
        <p:nvSpPr>
          <p:cNvPr id="9" name="TextBox 8">
            <a:extLst>
              <a:ext uri="{FF2B5EF4-FFF2-40B4-BE49-F238E27FC236}">
                <a16:creationId xmlns:a16="http://schemas.microsoft.com/office/drawing/2014/main" id="{D0DE9325-BB3C-A8DC-AABE-DE39BABBF6A4}"/>
              </a:ext>
            </a:extLst>
          </p:cNvPr>
          <p:cNvSpPr txBox="1"/>
          <p:nvPr/>
        </p:nvSpPr>
        <p:spPr>
          <a:xfrm>
            <a:off x="177800" y="4115688"/>
            <a:ext cx="4889500" cy="2742312"/>
          </a:xfrm>
          <a:prstGeom prst="rect">
            <a:avLst/>
          </a:prstGeom>
        </p:spPr>
        <p:txBody>
          <a:bodyPr vert="horz" lIns="91440" tIns="45720" rIns="91440" bIns="45720" rtlCol="0">
            <a:noAutofit/>
          </a:bodyPr>
          <a:lstStyle/>
          <a:p>
            <a:pPr marL="285750" indent="-228600" defTabSz="914400">
              <a:lnSpc>
                <a:spcPct val="90000"/>
              </a:lnSpc>
              <a:spcAft>
                <a:spcPts val="600"/>
              </a:spcAft>
              <a:buFont typeface="Arial" panose="020B0604020202020204" pitchFamily="34" charset="0"/>
              <a:buChar char="•"/>
            </a:pPr>
            <a:r>
              <a:rPr lang="en-US" dirty="0"/>
              <a:t>Logistic Regression and SVM both achieve </a:t>
            </a:r>
            <a:r>
              <a:rPr lang="en-US" b="1" dirty="0"/>
              <a:t>near‑perfect classification</a:t>
            </a:r>
          </a:p>
          <a:p>
            <a:pPr marL="285750" indent="-228600" defTabSz="914400">
              <a:lnSpc>
                <a:spcPct val="90000"/>
              </a:lnSpc>
              <a:spcAft>
                <a:spcPts val="600"/>
              </a:spcAft>
              <a:buFont typeface="Arial" panose="020B0604020202020204" pitchFamily="34" charset="0"/>
              <a:buChar char="•"/>
            </a:pPr>
            <a:r>
              <a:rPr lang="en-US" dirty="0"/>
              <a:t>Logistic Regression is almost identical, with only </a:t>
            </a:r>
            <a:r>
              <a:rPr lang="en-US" b="1" dirty="0"/>
              <a:t>two false positives</a:t>
            </a:r>
          </a:p>
          <a:p>
            <a:pPr marL="285750" indent="-228600" defTabSz="914400">
              <a:lnSpc>
                <a:spcPct val="90000"/>
              </a:lnSpc>
              <a:spcAft>
                <a:spcPts val="600"/>
              </a:spcAft>
              <a:buFont typeface="Arial" panose="020B0604020202020204" pitchFamily="34" charset="0"/>
              <a:buChar char="•"/>
            </a:pPr>
            <a:r>
              <a:rPr lang="en-US" dirty="0"/>
              <a:t>SVM produces </a:t>
            </a:r>
            <a:r>
              <a:rPr lang="en-US" b="1" dirty="0"/>
              <a:t>zero false positives </a:t>
            </a:r>
            <a:r>
              <a:rPr lang="en-US" dirty="0"/>
              <a:t>and only </a:t>
            </a:r>
            <a:r>
              <a:rPr lang="en-US" b="1" dirty="0"/>
              <a:t>one false negative</a:t>
            </a:r>
          </a:p>
          <a:p>
            <a:pPr marL="285750" indent="-228600" defTabSz="914400">
              <a:lnSpc>
                <a:spcPct val="90000"/>
              </a:lnSpc>
              <a:spcAft>
                <a:spcPts val="600"/>
              </a:spcAft>
              <a:buFont typeface="Arial" panose="020B0604020202020204" pitchFamily="34" charset="0"/>
              <a:buChar char="•"/>
            </a:pPr>
            <a:r>
              <a:rPr lang="en-US" dirty="0" err="1"/>
              <a:t>GaussianNB</a:t>
            </a:r>
            <a:r>
              <a:rPr lang="en-US" dirty="0"/>
              <a:t> misclassifies </a:t>
            </a:r>
            <a:r>
              <a:rPr lang="en-US" b="1" dirty="0"/>
              <a:t>tens of thousands </a:t>
            </a:r>
            <a:r>
              <a:rPr lang="en-US" dirty="0"/>
              <a:t>of non‑severe crashes as severe</a:t>
            </a:r>
          </a:p>
          <a:p>
            <a:pPr marL="285750" indent="-228600" defTabSz="914400">
              <a:lnSpc>
                <a:spcPct val="90000"/>
              </a:lnSpc>
              <a:spcAft>
                <a:spcPts val="600"/>
              </a:spcAft>
              <a:buFont typeface="Arial" panose="020B0604020202020204" pitchFamily="34" charset="0"/>
              <a:buChar char="•"/>
            </a:pPr>
            <a:r>
              <a:rPr lang="en-US" dirty="0"/>
              <a:t>Confirms linear models as winners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02D594-C694-C27F-5B3F-ACD4C5F4688A}"/>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B665661-E7E5-4BD7-BABC-0BF3A77C1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5738E82A-9A80-56CD-E53E-A3AC31E64FD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1" cy="1576446"/>
            <a:chOff x="0" y="0"/>
            <a:chExt cx="12192002" cy="1576446"/>
          </a:xfrm>
        </p:grpSpPr>
        <p:sp>
          <p:nvSpPr>
            <p:cNvPr id="23" name="Rectangle 22">
              <a:extLst>
                <a:ext uri="{FF2B5EF4-FFF2-40B4-BE49-F238E27FC236}">
                  <a16:creationId xmlns:a16="http://schemas.microsoft.com/office/drawing/2014/main" id="{56BE9559-87FC-1C04-C0A1-F17C2C545F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50D42D4-6014-C5EB-48C6-DC5122CEC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0136DF50-88F6-169E-D2BC-8E0284712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F4EEBA7-1645-2CAD-5333-96100B0DCCC9}"/>
              </a:ext>
            </a:extLst>
          </p:cNvPr>
          <p:cNvSpPr>
            <a:spLocks noGrp="1"/>
          </p:cNvSpPr>
          <p:nvPr>
            <p:ph type="title"/>
          </p:nvPr>
        </p:nvSpPr>
        <p:spPr>
          <a:xfrm>
            <a:off x="1028700" y="407695"/>
            <a:ext cx="7293022" cy="834251"/>
          </a:xfrm>
        </p:spPr>
        <p:txBody>
          <a:bodyPr vert="horz" lIns="91440" tIns="45720" rIns="91440" bIns="45720" rtlCol="0" anchor="ctr">
            <a:normAutofit/>
          </a:bodyPr>
          <a:lstStyle/>
          <a:p>
            <a:pPr algn="l" defTabSz="914400">
              <a:lnSpc>
                <a:spcPct val="90000"/>
              </a:lnSpc>
            </a:pPr>
            <a:r>
              <a:rPr lang="en-US" sz="3500" dirty="0">
                <a:solidFill>
                  <a:srgbClr val="FFFFFF"/>
                </a:solidFill>
              </a:rPr>
              <a:t>ROC Curves</a:t>
            </a:r>
          </a:p>
        </p:txBody>
      </p:sp>
      <p:sp>
        <p:nvSpPr>
          <p:cNvPr id="3" name="Content Placeholder 2">
            <a:extLst>
              <a:ext uri="{FF2B5EF4-FFF2-40B4-BE49-F238E27FC236}">
                <a16:creationId xmlns:a16="http://schemas.microsoft.com/office/drawing/2014/main" id="{8A715B00-6897-BE95-6358-5DB2572D4D6D}"/>
              </a:ext>
            </a:extLst>
          </p:cNvPr>
          <p:cNvSpPr>
            <a:spLocks noGrp="1" noChangeArrowheads="1"/>
          </p:cNvSpPr>
          <p:nvPr>
            <p:ph idx="1"/>
          </p:nvPr>
        </p:nvSpPr>
        <p:spPr bwMode="auto">
          <a:xfrm>
            <a:off x="5043718" y="1802402"/>
            <a:ext cx="3719703" cy="352256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defTabSz="914400" eaLnBrk="0" fontAlgn="base" hangingPunct="0">
              <a:spcBef>
                <a:spcPct val="0"/>
              </a:spcBef>
              <a:spcAft>
                <a:spcPts val="600"/>
              </a:spcAft>
            </a:pPr>
            <a:r>
              <a:rPr kumimoji="0" lang="en-US" altLang="en-US" sz="1700" b="0" i="0" u="none" strike="noStrike" cap="none" normalizeH="0" baseline="0" dirty="0">
                <a:ln>
                  <a:noFill/>
                </a:ln>
                <a:effectLst/>
                <a:latin typeface="Arial" panose="020B0604020202020204" pitchFamily="34" charset="0"/>
              </a:rPr>
              <a:t>All models achieve </a:t>
            </a:r>
            <a:r>
              <a:rPr kumimoji="0" lang="en-US" altLang="en-US" sz="1700" b="1" i="0" u="none" strike="noStrike" cap="none" normalizeH="0" baseline="0" dirty="0">
                <a:ln>
                  <a:noFill/>
                </a:ln>
                <a:effectLst/>
                <a:latin typeface="Arial" panose="020B0604020202020204" pitchFamily="34" charset="0"/>
              </a:rPr>
              <a:t>exceptionally high ROC‑AUC</a:t>
            </a:r>
            <a:r>
              <a:rPr kumimoji="0" lang="en-US" altLang="en-US" sz="1700" b="0" i="0" u="none" strike="noStrike" cap="none" normalizeH="0" baseline="0" dirty="0">
                <a:ln>
                  <a:noFill/>
                </a:ln>
                <a:effectLst/>
                <a:latin typeface="Arial" panose="020B0604020202020204" pitchFamily="34" charset="0"/>
              </a:rPr>
              <a:t> </a:t>
            </a:r>
          </a:p>
          <a:p>
            <a:pPr defTabSz="914400" eaLnBrk="0" fontAlgn="base" hangingPunct="0">
              <a:spcBef>
                <a:spcPct val="0"/>
              </a:spcBef>
              <a:spcAft>
                <a:spcPts val="600"/>
              </a:spcAft>
            </a:pPr>
            <a:r>
              <a:rPr kumimoji="0" lang="en-US" altLang="en-US" sz="1700" b="0" i="0" u="none" strike="noStrike" cap="none" normalizeH="0" baseline="0" dirty="0">
                <a:ln>
                  <a:noFill/>
                </a:ln>
                <a:effectLst/>
                <a:latin typeface="Arial" panose="020B0604020202020204" pitchFamily="34" charset="0"/>
              </a:rPr>
              <a:t>Linear SVM has the </a:t>
            </a:r>
            <a:r>
              <a:rPr kumimoji="0" lang="en-US" altLang="en-US" sz="1700" b="1" i="0" u="none" strike="noStrike" cap="none" normalizeH="0" baseline="0" dirty="0">
                <a:ln>
                  <a:noFill/>
                </a:ln>
                <a:effectLst/>
                <a:latin typeface="Arial" panose="020B0604020202020204" pitchFamily="34" charset="0"/>
              </a:rPr>
              <a:t>highest AUC</a:t>
            </a:r>
            <a:r>
              <a:rPr kumimoji="0" lang="en-US" altLang="en-US" sz="1700" b="0" i="0" u="none" strike="noStrike" cap="none" normalizeH="0" baseline="0" dirty="0">
                <a:ln>
                  <a:noFill/>
                </a:ln>
                <a:effectLst/>
                <a:latin typeface="Arial" panose="020B0604020202020204" pitchFamily="34" charset="0"/>
              </a:rPr>
              <a:t>, followed closely by Logistic Regression </a:t>
            </a:r>
          </a:p>
          <a:p>
            <a:pPr defTabSz="914400" eaLnBrk="0" fontAlgn="base" hangingPunct="0">
              <a:spcBef>
                <a:spcPct val="0"/>
              </a:spcBef>
              <a:spcAft>
                <a:spcPts val="600"/>
              </a:spcAft>
            </a:pPr>
            <a:r>
              <a:rPr kumimoji="0" lang="en-US" altLang="en-US" sz="1700" b="0" i="0" u="none" strike="noStrike" cap="none" normalizeH="0" baseline="0" dirty="0" err="1">
                <a:ln>
                  <a:noFill/>
                </a:ln>
                <a:effectLst/>
                <a:latin typeface="Arial" panose="020B0604020202020204" pitchFamily="34" charset="0"/>
              </a:rPr>
              <a:t>GaussianNB</a:t>
            </a:r>
            <a:r>
              <a:rPr kumimoji="0" lang="en-US" altLang="en-US" sz="1700" b="0" i="0" u="none" strike="noStrike" cap="none" normalizeH="0" baseline="0" dirty="0">
                <a:ln>
                  <a:noFill/>
                </a:ln>
                <a:effectLst/>
                <a:latin typeface="Arial" panose="020B0604020202020204" pitchFamily="34" charset="0"/>
              </a:rPr>
              <a:t> also performs strongly in ranking ability </a:t>
            </a:r>
          </a:p>
          <a:p>
            <a:pPr defTabSz="914400" eaLnBrk="0" fontAlgn="base" hangingPunct="0">
              <a:spcBef>
                <a:spcPct val="0"/>
              </a:spcBef>
              <a:spcAft>
                <a:spcPts val="600"/>
              </a:spcAft>
            </a:pPr>
            <a:r>
              <a:rPr kumimoji="0" lang="en-US" altLang="en-US" sz="1700" b="0" i="0" u="none" strike="noStrike" cap="none" normalizeH="0" baseline="0" dirty="0">
                <a:ln>
                  <a:noFill/>
                </a:ln>
                <a:effectLst/>
                <a:latin typeface="Arial" panose="020B0604020202020204" pitchFamily="34" charset="0"/>
              </a:rPr>
              <a:t>ROC curves alone do </a:t>
            </a:r>
            <a:r>
              <a:rPr kumimoji="0" lang="en-US" altLang="en-US" sz="1700" b="1" i="0" u="none" strike="noStrike" cap="none" normalizeH="0" baseline="0" dirty="0">
                <a:ln>
                  <a:noFill/>
                </a:ln>
                <a:effectLst/>
                <a:latin typeface="Arial" panose="020B0604020202020204" pitchFamily="34" charset="0"/>
              </a:rPr>
              <a:t>not</a:t>
            </a:r>
            <a:r>
              <a:rPr kumimoji="0" lang="en-US" altLang="en-US" sz="1700" b="0" i="0" u="none" strike="noStrike" cap="none" normalizeH="0" baseline="0" dirty="0">
                <a:ln>
                  <a:noFill/>
                </a:ln>
                <a:effectLst/>
                <a:latin typeface="Arial" panose="020B0604020202020204" pitchFamily="34" charset="0"/>
              </a:rPr>
              <a:t> reveal precision issues </a:t>
            </a:r>
          </a:p>
          <a:p>
            <a:pPr defTabSz="914400" eaLnBrk="0" fontAlgn="base" hangingPunct="0">
              <a:spcBef>
                <a:spcPct val="0"/>
              </a:spcBef>
              <a:spcAft>
                <a:spcPts val="600"/>
              </a:spcAft>
            </a:pPr>
            <a:r>
              <a:rPr kumimoji="0" lang="en-US" altLang="en-US" sz="1700" b="0" i="0" u="none" strike="noStrike" cap="none" normalizeH="0" baseline="0" dirty="0">
                <a:ln>
                  <a:noFill/>
                </a:ln>
                <a:effectLst/>
                <a:latin typeface="Arial" panose="020B0604020202020204" pitchFamily="34" charset="0"/>
              </a:rPr>
              <a:t>Confirms strong separability of the severe vs non‑severe classe</a:t>
            </a:r>
            <a:r>
              <a:rPr lang="en-US" altLang="en-US" sz="1700" dirty="0">
                <a:latin typeface="Arial" panose="020B0604020202020204" pitchFamily="34" charset="0"/>
              </a:rPr>
              <a:t>s</a:t>
            </a:r>
            <a:endParaRPr kumimoji="0" lang="en-US" altLang="en-US" sz="1700" b="0" i="0" u="none" strike="noStrike" cap="none" normalizeH="0" baseline="0" dirty="0">
              <a:ln>
                <a:noFill/>
              </a:ln>
              <a:effectLst/>
              <a:latin typeface="Arial" panose="020B0604020202020204" pitchFamily="34" charset="0"/>
            </a:endParaRPr>
          </a:p>
        </p:txBody>
      </p:sp>
      <p:pic>
        <p:nvPicPr>
          <p:cNvPr id="4" name="Picture 3">
            <a:extLst>
              <a:ext uri="{FF2B5EF4-FFF2-40B4-BE49-F238E27FC236}">
                <a16:creationId xmlns:a16="http://schemas.microsoft.com/office/drawing/2014/main" id="{E4F68E55-FD4D-F5CB-BC45-25449510D59A}"/>
              </a:ext>
            </a:extLst>
          </p:cNvPr>
          <p:cNvPicPr>
            <a:picLocks noChangeAspect="1"/>
          </p:cNvPicPr>
          <p:nvPr/>
        </p:nvPicPr>
        <p:blipFill>
          <a:blip r:embed="rId3"/>
          <a:stretch>
            <a:fillRect/>
          </a:stretch>
        </p:blipFill>
        <p:spPr>
          <a:xfrm>
            <a:off x="-1496" y="1576446"/>
            <a:ext cx="5045214" cy="3922654"/>
          </a:xfrm>
          <a:prstGeom prst="rect">
            <a:avLst/>
          </a:prstGeom>
        </p:spPr>
      </p:pic>
    </p:spTree>
    <p:extLst>
      <p:ext uri="{BB962C8B-B14F-4D97-AF65-F5344CB8AC3E}">
        <p14:creationId xmlns:p14="http://schemas.microsoft.com/office/powerpoint/2010/main" val="1745950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6AF34B-4E92-6E9D-4052-6AA7607F1A49}"/>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B43C6EF-111F-2E5E-6FF6-438FC8D982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9218423-3960-1243-3921-0A4922219A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74A2F42-14CE-E1FF-7C7F-E10D9A752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B401712-3ED9-31A3-CFF2-A16B170FCE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DB81292-696A-7B3F-51F8-8CA3C6F19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450DC1-1D08-9A70-B662-6D96DC89774F}"/>
              </a:ext>
            </a:extLst>
          </p:cNvPr>
          <p:cNvSpPr>
            <a:spLocks noGrp="1"/>
          </p:cNvSpPr>
          <p:nvPr>
            <p:ph type="title"/>
          </p:nvPr>
        </p:nvSpPr>
        <p:spPr>
          <a:xfrm>
            <a:off x="1028699" y="294538"/>
            <a:ext cx="7421963" cy="1033669"/>
          </a:xfrm>
        </p:spPr>
        <p:txBody>
          <a:bodyPr>
            <a:normAutofit/>
          </a:bodyPr>
          <a:lstStyle/>
          <a:p>
            <a:r>
              <a:rPr lang="en-NZ" sz="3500">
                <a:solidFill>
                  <a:srgbClr val="FFFFFF"/>
                </a:solidFill>
              </a:rPr>
              <a:t>Key Insights</a:t>
            </a:r>
          </a:p>
        </p:txBody>
      </p:sp>
      <p:sp>
        <p:nvSpPr>
          <p:cNvPr id="6" name="Rectangle 1">
            <a:extLst>
              <a:ext uri="{FF2B5EF4-FFF2-40B4-BE49-F238E27FC236}">
                <a16:creationId xmlns:a16="http://schemas.microsoft.com/office/drawing/2014/main" id="{B7D5F42C-085E-B64B-3CC6-FDD7C37FEE15}"/>
              </a:ext>
            </a:extLst>
          </p:cNvPr>
          <p:cNvSpPr>
            <a:spLocks noGrp="1" noChangeArrowheads="1"/>
          </p:cNvSpPr>
          <p:nvPr>
            <p:ph idx="1"/>
          </p:nvPr>
        </p:nvSpPr>
        <p:spPr bwMode="auto">
          <a:xfrm>
            <a:off x="1028699" y="2318197"/>
            <a:ext cx="7293023" cy="36833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Autofit/>
          </a:bodyPr>
          <a:lstStyle/>
          <a:p>
            <a:pPr defTabSz="914400" eaLnBrk="0" fontAlgn="base" hangingPunct="0">
              <a:spcBef>
                <a:spcPct val="0"/>
              </a:spcBef>
              <a:spcAft>
                <a:spcPts val="600"/>
              </a:spcAft>
            </a:pPr>
            <a:r>
              <a:rPr kumimoji="0" lang="en-US" altLang="en-US" sz="1800" b="1" i="0" u="none" strike="noStrike" cap="none" normalizeH="0" baseline="0" dirty="0">
                <a:ln>
                  <a:noFill/>
                </a:ln>
                <a:effectLst/>
                <a:latin typeface="Arial" panose="020B0604020202020204" pitchFamily="34" charset="0"/>
              </a:rPr>
              <a:t>Speed limit alone is not a strong predictor</a:t>
            </a:r>
            <a:r>
              <a:rPr lang="en-US" altLang="en-US" sz="1800" dirty="0">
                <a:latin typeface="Arial" panose="020B0604020202020204" pitchFamily="34" charset="0"/>
              </a:rPr>
              <a:t>: </a:t>
            </a:r>
            <a:r>
              <a:rPr kumimoji="0" lang="en-US" altLang="en-US" sz="1800" b="0" i="0" u="none" strike="noStrike" cap="none" normalizeH="0" baseline="0" dirty="0">
                <a:ln>
                  <a:noFill/>
                </a:ln>
                <a:effectLst/>
                <a:latin typeface="Arial" panose="020B0604020202020204" pitchFamily="34" charset="0"/>
              </a:rPr>
              <a:t>severe and non‑severe crashes share similar distributions </a:t>
            </a:r>
          </a:p>
          <a:p>
            <a:pPr defTabSz="914400" eaLnBrk="0" fontAlgn="base" hangingPunct="0">
              <a:spcBef>
                <a:spcPct val="0"/>
              </a:spcBef>
              <a:spcAft>
                <a:spcPts val="600"/>
              </a:spcAft>
            </a:pPr>
            <a:r>
              <a:rPr kumimoji="0" lang="en-US" altLang="en-US" sz="1800" b="1" i="0" u="none" strike="noStrike" cap="none" normalizeH="0" baseline="0" dirty="0">
                <a:ln>
                  <a:noFill/>
                </a:ln>
                <a:effectLst/>
                <a:latin typeface="Arial" panose="020B0604020202020204" pitchFamily="34" charset="0"/>
              </a:rPr>
              <a:t>Vulnerable road users</a:t>
            </a:r>
            <a:r>
              <a:rPr kumimoji="0" lang="en-US" altLang="en-US" sz="1800" b="0" i="0" u="none" strike="noStrike" cap="none" normalizeH="0" baseline="0" dirty="0">
                <a:ln>
                  <a:noFill/>
                </a:ln>
                <a:effectLst/>
                <a:latin typeface="Arial" panose="020B0604020202020204" pitchFamily="34" charset="0"/>
              </a:rPr>
              <a:t> (motorcycles, pedestrians, cyclists) have the highest severe‑crash percentages </a:t>
            </a:r>
          </a:p>
          <a:p>
            <a:pPr defTabSz="914400" eaLnBrk="0" fontAlgn="base" hangingPunct="0">
              <a:spcBef>
                <a:spcPct val="0"/>
              </a:spcBef>
              <a:spcAft>
                <a:spcPts val="600"/>
              </a:spcAft>
            </a:pPr>
            <a:r>
              <a:rPr kumimoji="0" lang="en-US" altLang="en-US" sz="1800" b="1" i="0" u="none" strike="noStrike" cap="none" normalizeH="0" baseline="0" dirty="0">
                <a:ln>
                  <a:noFill/>
                </a:ln>
                <a:effectLst/>
                <a:latin typeface="Arial" panose="020B0604020202020204" pitchFamily="34" charset="0"/>
              </a:rPr>
              <a:t>Engineered features</a:t>
            </a:r>
            <a:r>
              <a:rPr kumimoji="0" lang="en-US" altLang="en-US" sz="1800" b="0" i="0" u="none" strike="noStrike" cap="none" normalizeH="0" baseline="0" dirty="0">
                <a:ln>
                  <a:noFill/>
                </a:ln>
                <a:effectLst/>
                <a:latin typeface="Arial" panose="020B0604020202020204" pitchFamily="34" charset="0"/>
              </a:rPr>
              <a:t> (effective speed limit, participant counts) add meaningful structure </a:t>
            </a:r>
          </a:p>
          <a:p>
            <a:pPr defTabSz="914400" eaLnBrk="0" fontAlgn="base" hangingPunct="0">
              <a:spcBef>
                <a:spcPct val="0"/>
              </a:spcBef>
              <a:spcAft>
                <a:spcPts val="600"/>
              </a:spcAft>
            </a:pPr>
            <a:r>
              <a:rPr kumimoji="0" lang="en-US" altLang="en-US" sz="1800" b="1" i="0" u="none" strike="noStrike" cap="none" normalizeH="0" baseline="0" dirty="0">
                <a:ln>
                  <a:noFill/>
                </a:ln>
                <a:effectLst/>
                <a:latin typeface="Arial" panose="020B0604020202020204" pitchFamily="34" charset="0"/>
              </a:rPr>
              <a:t>Linear models</a:t>
            </a:r>
            <a:r>
              <a:rPr kumimoji="0" lang="en-US" altLang="en-US" sz="1800" i="0" u="none" strike="noStrike" cap="none" normalizeH="0" baseline="0" dirty="0">
                <a:ln>
                  <a:noFill/>
                </a:ln>
                <a:effectLst/>
                <a:latin typeface="Arial" panose="020B0604020202020204" pitchFamily="34" charset="0"/>
              </a:rPr>
              <a:t> (LR, SVM) are extremely stable and high‑performing </a:t>
            </a:r>
          </a:p>
          <a:p>
            <a:pPr defTabSz="914400" eaLnBrk="0" fontAlgn="base" hangingPunct="0">
              <a:spcBef>
                <a:spcPct val="0"/>
              </a:spcBef>
              <a:spcAft>
                <a:spcPts val="600"/>
              </a:spcAft>
            </a:pPr>
            <a:r>
              <a:rPr kumimoji="0" lang="en-US" altLang="en-US" sz="1800" b="1" i="0" u="none" strike="noStrike" cap="none" normalizeH="0" baseline="0" dirty="0">
                <a:ln>
                  <a:noFill/>
                </a:ln>
                <a:effectLst/>
                <a:latin typeface="Arial" panose="020B0604020202020204" pitchFamily="34" charset="0"/>
              </a:rPr>
              <a:t>Naïve Bayes fails</a:t>
            </a:r>
            <a:r>
              <a:rPr kumimoji="0" lang="en-US" altLang="en-US" sz="1800" i="0" u="none" strike="noStrike" cap="none" normalizeH="0" baseline="0" dirty="0">
                <a:ln>
                  <a:noFill/>
                </a:ln>
                <a:effectLst/>
                <a:latin typeface="Arial" panose="020B0604020202020204" pitchFamily="34" charset="0"/>
              </a:rPr>
              <a:t> due to unrealistic feature assumptions, </a:t>
            </a:r>
            <a:r>
              <a:rPr kumimoji="0" lang="en-US" altLang="en-US" sz="1800" b="0" i="0" u="none" strike="noStrike" cap="none" normalizeH="0" baseline="0" dirty="0">
                <a:ln>
                  <a:noFill/>
                </a:ln>
                <a:effectLst/>
                <a:latin typeface="Arial" panose="020B0604020202020204" pitchFamily="34" charset="0"/>
              </a:rPr>
              <a:t>despite high ROC</a:t>
            </a:r>
            <a:r>
              <a:rPr kumimoji="0" lang="en-US" altLang="en-US" sz="1800" b="0" i="0" u="none" strike="noStrike" cap="none" normalizeH="0" baseline="0">
                <a:ln>
                  <a:noFill/>
                </a:ln>
                <a:effectLst/>
                <a:latin typeface="Arial" panose="020B0604020202020204" pitchFamily="34" charset="0"/>
              </a:rPr>
              <a:t>‑AUC</a:t>
            </a:r>
            <a:endParaRPr kumimoji="0" lang="en-US" altLang="en-US" sz="1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495606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431</TotalTime>
  <Words>2241</Words>
  <Application>Microsoft Office PowerPoint</Application>
  <PresentationFormat>On-screen Show (4:3)</PresentationFormat>
  <Paragraphs>207</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Predicting Crash Severity in New Zealand Using Machine Learning</vt:lpstr>
      <vt:lpstr>The Problem</vt:lpstr>
      <vt:lpstr>Dataset Overview</vt:lpstr>
      <vt:lpstr>Data Cleaning &amp; Preparation</vt:lpstr>
      <vt:lpstr>Severity Distribution</vt:lpstr>
      <vt:lpstr>Speed Limit Distribution</vt:lpstr>
      <vt:lpstr>Lighting Conditions</vt:lpstr>
      <vt:lpstr>Severity vs Speed Limit</vt:lpstr>
      <vt:lpstr>Participant Type Severity %s</vt:lpstr>
      <vt:lpstr>Effective Speed Limit %s</vt:lpstr>
      <vt:lpstr>Correlation Heatmap</vt:lpstr>
      <vt:lpstr>Modelling Approach</vt:lpstr>
      <vt:lpstr>Model Performance</vt:lpstr>
      <vt:lpstr>Confusion Matrices</vt:lpstr>
      <vt:lpstr>ROC Curves</vt:lpstr>
      <vt:lpstr>Key Insights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Chris Andrews</dc:creator>
  <cp:keywords/>
  <dc:description>generated using python-pptx</dc:description>
  <cp:lastModifiedBy>Chris Andrews</cp:lastModifiedBy>
  <cp:revision>51</cp:revision>
  <dcterms:created xsi:type="dcterms:W3CDTF">2013-01-27T09:14:16Z</dcterms:created>
  <dcterms:modified xsi:type="dcterms:W3CDTF">2026-02-06T21:11:11Z</dcterms:modified>
  <cp:category/>
</cp:coreProperties>
</file>
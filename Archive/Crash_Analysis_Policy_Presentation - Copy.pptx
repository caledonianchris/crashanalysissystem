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497D"/>
                </a:solidFill>
              </a:defRPr>
            </a:pPr>
            <a:r>
              <a:t>Crash Severity Prediction: A Multi-Model ML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Comparing Three Models on 705K Real-World Crash Records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Feature Engineering &amp; Model Selection in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705K Records, 79 Features, 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0136"/>
            <a:ext cx="8229600" cy="4073013"/>
          </a:xfrm>
        </p:spPr>
        <p:txBody>
          <a:bodyPr/>
          <a:lstStyle/>
          <a:p>
            <a:pPr>
              <a:spcAft>
                <a:spcPts val="1200"/>
              </a:spcAft>
              <a:defRPr sz="1600"/>
            </a:pPr>
            <a:r>
              <a:rPr dirty="0"/>
              <a:t>Real-world dataset: 705,824 NZTA crash records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Binary classification problem: Severe vs Non-Severe crashes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Technical Challenges: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Severe class imbalance (~15% severe crashes)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Mixed data types: categorical, numerical, binary features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Feature engineering with domain knowledge required</a:t>
            </a:r>
          </a:p>
          <a:p>
            <a:pPr>
              <a:spcAft>
                <a:spcPts val="1200"/>
              </a:spcAft>
              <a:defRPr sz="1600"/>
            </a:pPr>
            <a:endParaRPr dirty="0"/>
          </a:p>
          <a:p>
            <a:pPr marL="0" indent="0">
              <a:spcAft>
                <a:spcPts val="1200"/>
              </a:spcAft>
              <a:buNone/>
              <a:defRPr sz="1600"/>
            </a:pPr>
            <a:r>
              <a:rPr dirty="0"/>
              <a:t>Why This Matters: Perfect example of messy, imbalanced real-world ML problem</a:t>
            </a:r>
          </a:p>
          <a:p>
            <a:pPr marL="0" indent="0">
              <a:spcAft>
                <a:spcPts val="1200"/>
              </a:spcAft>
              <a:buNone/>
              <a:defRPr sz="1600"/>
            </a:pPr>
            <a:r>
              <a:rPr dirty="0"/>
              <a:t>Skills Reinforced: Data preprocessing, class imbalance handling, model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Why We Chose These Three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  <a:defRPr sz="1400"/>
            </a:pPr>
            <a:r>
              <a:rPr dirty="0"/>
              <a:t>Our Model Lineup: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Logistic Regression - </a:t>
            </a:r>
            <a:r>
              <a:rPr lang="en-NZ" dirty="0"/>
              <a:t>our</a:t>
            </a:r>
            <a:r>
              <a:rPr dirty="0"/>
              <a:t> interpretable baseline (linear decision boundary)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Linear SVM + Calibration - </a:t>
            </a:r>
            <a:r>
              <a:rPr lang="en-NZ" dirty="0"/>
              <a:t>better</a:t>
            </a:r>
            <a:r>
              <a:rPr dirty="0"/>
              <a:t> at handling high-dimensional data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Naïve Bayes - good with categorical features</a:t>
            </a:r>
          </a:p>
          <a:p>
            <a:pPr>
              <a:spcAft>
                <a:spcPts val="800"/>
              </a:spcAft>
              <a:defRPr sz="1400"/>
            </a:pPr>
            <a:endParaRPr dirty="0"/>
          </a:p>
          <a:p>
            <a:pPr marL="0" indent="0">
              <a:spcAft>
                <a:spcPts val="800"/>
              </a:spcAft>
              <a:buNone/>
              <a:defRPr sz="1400"/>
            </a:pPr>
            <a:r>
              <a:rPr dirty="0"/>
              <a:t>Key Technical Decisions We Made:</a:t>
            </a:r>
          </a:p>
          <a:p>
            <a:pPr>
              <a:spcAft>
                <a:spcPts val="800"/>
              </a:spcAft>
              <a:defRPr sz="1400"/>
            </a:pPr>
            <a:r>
              <a:rPr lang="en-NZ" dirty="0"/>
              <a:t>C</a:t>
            </a:r>
            <a:r>
              <a:rPr dirty="0"/>
              <a:t>lass</a:t>
            </a:r>
            <a:r>
              <a:rPr lang="en-NZ" dirty="0"/>
              <a:t> </a:t>
            </a:r>
            <a:r>
              <a:rPr dirty="0"/>
              <a:t>weight='balanced' → Fixed our class imbalance problem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Feature engineering: 79 → 26 meaningful predictors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Cross-validation: Making sure we weren't just lucky</a:t>
            </a:r>
          </a:p>
          <a:p>
            <a:pPr>
              <a:spcAft>
                <a:spcPts val="800"/>
              </a:spcAft>
              <a:defRPr sz="1400"/>
            </a:pPr>
            <a:endParaRPr dirty="0"/>
          </a:p>
          <a:p>
            <a:pPr marL="0" indent="0">
              <a:spcAft>
                <a:spcPts val="800"/>
              </a:spcAft>
              <a:buNone/>
              <a:defRPr sz="1400"/>
            </a:pPr>
            <a:r>
              <a:rPr dirty="0"/>
              <a:t>What We Learned: Sometimes simpler models work just as well as complex ones!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14238" y="4230093"/>
            <a:ext cx="3112935" cy="1800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497D"/>
                </a:solidFill>
              </a:defRPr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Hyperparameter Tuning: How C-Values Affected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362B23-7FA5-5AE5-49F8-A5C8AAE2A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44" y="555669"/>
            <a:ext cx="8354833" cy="32583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4811" y="4230094"/>
            <a:ext cx="4676451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200"/>
              <a:t>Amazing Result: 0% false negative rate across ALL C values!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200"/>
              <a:t>What This Means: Our models never missed a severe crash in testing</a:t>
            </a:r>
            <a:br>
              <a:rPr lang="en-US" sz="1200"/>
            </a:br>
            <a:endParaRPr lang="en-US" sz="12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200"/>
              <a:t>Why It Happened: class_weight='balanced' was the game changer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200"/>
              <a:t>Key Learning: Sometimes the preprocessing matters more than hyperparameter tuning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200"/>
              <a:t>Technical Insight: Both Logistic Regression and SVM achieved perfect recall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959556" cy="11280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700"/>
              <a:t>Model Performance: When Linear SVM Surprised Us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123821"/>
            <a:ext cx="373130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039" y="2330505"/>
            <a:ext cx="3958549" cy="397958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spcAft>
                <a:spcPts val="800"/>
              </a:spcAft>
              <a:buNone/>
              <a:defRPr sz="1400"/>
            </a:pPr>
            <a:r>
              <a:rPr lang="en-GB" sz="1100"/>
              <a:t>Linear SVM (Calibrated) - Our Champion: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Accuracy: 99.3% 🏆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Precision: 98.8%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Recall: 99.8% (This was crucial!)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ROC-AUC: 99.9%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endParaRPr lang="en-GB" sz="1100"/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  <a:defRPr sz="1400"/>
            </a:pPr>
            <a:r>
              <a:rPr lang="en-GB" sz="1100"/>
              <a:t>What We Learned: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Calibration made a huge difference for probability estimates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Linear models can compete with complex ones on structured data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Class balancing was more important than feature scaling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endParaRPr lang="en-GB" sz="1100"/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[Insert: Performance comparison table &amp; ROC curves]</a:t>
            </a:r>
          </a:p>
          <a:p>
            <a:pPr>
              <a:lnSpc>
                <a:spcPct val="90000"/>
              </a:lnSpc>
              <a:spcAft>
                <a:spcPts val="800"/>
              </a:spcAft>
              <a:defRPr sz="1400"/>
            </a:pPr>
            <a:r>
              <a:rPr lang="en-GB" sz="1100"/>
              <a:t>plots/16_model_performance_table.png and plots/17_roc_curves_for_all_models.png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265" y="357447"/>
            <a:ext cx="3634116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023FD-C59A-233C-B935-C6F50986D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567" y="1313578"/>
            <a:ext cx="3298075" cy="105538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265" y="3505479"/>
            <a:ext cx="3634116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2FAF76-0ED1-E5B9-3D9F-D25D3068B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127" y="3707894"/>
            <a:ext cx="3239556" cy="2518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Importance: What the Data Actually Tells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500"/>
            </a:pPr>
            <a:r>
              <a:t>Technical Achievement So Far:</a:t>
            </a:r>
          </a:p>
          <a:p>
            <a:pPr>
              <a:spcAft>
                <a:spcPts val="1000"/>
              </a:spcAft>
              <a:defRPr sz="1500"/>
            </a:pPr>
            <a:r>
              <a:t>• 705K records successfully processed and modeled</a:t>
            </a:r>
          </a:p>
          <a:p>
            <a:pPr>
              <a:spcAft>
                <a:spcPts val="1000"/>
              </a:spcAft>
              <a:defRPr sz="1500"/>
            </a:pPr>
            <a:r>
              <a:t>• All three models achieved excellent performance</a:t>
            </a:r>
          </a:p>
          <a:p>
            <a:pPr>
              <a:spcAft>
                <a:spcPts val="1000"/>
              </a:spcAft>
              <a:defRPr sz="1500"/>
            </a:pPr>
            <a:r>
              <a:t>• Cross-validation confirmed our results are robust</a:t>
            </a:r>
          </a:p>
          <a:p>
            <a:pPr>
              <a:spcAft>
                <a:spcPts val="1000"/>
              </a:spcAft>
              <a:defRPr sz="1500"/>
            </a:pPr>
            <a:endParaRPr/>
          </a:p>
          <a:p>
            <a:pPr>
              <a:spcAft>
                <a:spcPts val="1000"/>
              </a:spcAft>
              <a:defRPr sz="1500"/>
            </a:pPr>
            <a:r>
              <a:t>Data Science Transition:</a:t>
            </a:r>
          </a:p>
          <a:p>
            <a:pPr>
              <a:spcAft>
                <a:spcPts val="1000"/>
              </a:spcAft>
              <a:defRPr sz="1500"/>
            </a:pPr>
            <a:r>
              <a:t>"Now let's dive into what we discovered in the features..."</a:t>
            </a:r>
          </a:p>
          <a:p>
            <a:pPr>
              <a:spcAft>
                <a:spcPts val="1000"/>
              </a:spcAft>
              <a:defRPr sz="1500"/>
            </a:pPr>
            <a:endParaRPr/>
          </a:p>
          <a:p>
            <a:pPr>
              <a:spcAft>
                <a:spcPts val="1000"/>
              </a:spcAft>
              <a:defRPr sz="1500"/>
            </a:pPr>
            <a:r>
              <a:t>Cooler Findings than Expected:</a:t>
            </a:r>
          </a:p>
          <a:p>
            <a:pPr>
              <a:spcAft>
                <a:spcPts val="1000"/>
              </a:spcAft>
              <a:defRPr sz="1500"/>
            </a:pPr>
            <a:r>
              <a:t>• Speed limits matter more than we thought</a:t>
            </a:r>
          </a:p>
          <a:p>
            <a:pPr>
              <a:spcAft>
                <a:spcPts val="1000"/>
              </a:spcAft>
              <a:defRPr sz="1500"/>
            </a:pPr>
            <a:r>
              <a:t>• Lighting conditions have surprising impact patterns</a:t>
            </a:r>
          </a:p>
          <a:p>
            <a:pPr>
              <a:spcAft>
                <a:spcPts val="1000"/>
              </a:spcAft>
              <a:defRPr sz="1500"/>
            </a:pPr>
            <a:r>
              <a:t>• Vehicle type distributions revealed interesting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497D"/>
                </a:solidFill>
              </a:defRPr>
            </a:pPr>
            <a:r>
              <a:t>Speed Limits: Our Most Predictive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[Speed vs Severity Plot]</a:t>
            </a:r>
            <a:br/>
            <a:r>
              <a:t>plots/07_Bivariate_EDA_severity_vs_effective_speed_limit.png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Data Science Discovery: Speed limits show the strongest correlation with crash severity</a:t>
            </a:r>
            <a:br/>
            <a:br/>
            <a:r>
              <a:t>What We Found:</a:t>
            </a:r>
            <a:br/>
            <a:r>
              <a:t>• Clear linear relationship in our bivariate analysis</a:t>
            </a:r>
            <a:br/>
            <a:r>
              <a:t>• Feature importance ranking consistently high across all models</a:t>
            </a:r>
            <a:br/>
            <a:r>
              <a:t>• This validates our domain knowledge intuition</a:t>
            </a:r>
            <a:br/>
            <a:br/>
            <a:r>
              <a:t>Technical Notes:</a:t>
            </a:r>
            <a:br/>
            <a:r>
              <a:t>• Used effective speed limit (accounts for temporary changes)</a:t>
            </a:r>
            <a:br/>
            <a:r>
              <a:t>• Correlation coefficient: [insert actual value]</a:t>
            </a:r>
            <a:br/>
            <a:r>
              <a:t>• Shows importance of feature engineering with domain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Features: Lighting &amp; Weather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/>
            </a:pPr>
            <a:r>
              <a:t>Interesting EDA Findings:</a:t>
            </a:r>
          </a:p>
          <a:p>
            <a:pPr>
              <a:spcAft>
                <a:spcPts val="800"/>
              </a:spcAft>
              <a:defRPr sz="1400"/>
            </a:pPr>
            <a:r>
              <a:t>• Lighting conditions showed unexpected risk patterns</a:t>
            </a:r>
          </a:p>
          <a:p>
            <a:pPr>
              <a:spcAft>
                <a:spcPts val="800"/>
              </a:spcAft>
              <a:defRPr sz="1400"/>
            </a:pPr>
            <a:r>
              <a:t>• Road surface quality had measurable impact on severity</a:t>
            </a:r>
          </a:p>
          <a:p>
            <a:pPr>
              <a:spcAft>
                <a:spcPts val="800"/>
              </a:spcAft>
              <a:defRPr sz="1400"/>
            </a:pPr>
            <a:r>
              <a:t>• Weather combinations created interaction effects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Data Science Insights:</a:t>
            </a:r>
          </a:p>
          <a:p>
            <a:pPr>
              <a:spcAft>
                <a:spcPts val="800"/>
              </a:spcAft>
              <a:defRPr sz="1400"/>
            </a:pPr>
            <a:r>
              <a:t>• Categorical encoding strategy made a difference here</a:t>
            </a:r>
          </a:p>
          <a:p>
            <a:pPr>
              <a:spcAft>
                <a:spcPts val="800"/>
              </a:spcAft>
              <a:defRPr sz="1400"/>
            </a:pPr>
            <a:r>
              <a:t>• Some categories had very low counts (class imbalance within features)</a:t>
            </a:r>
          </a:p>
          <a:p>
            <a:pPr>
              <a:spcAft>
                <a:spcPts val="800"/>
              </a:spcAft>
              <a:defRPr sz="1400"/>
            </a:pPr>
            <a:r>
              <a:t>• Feature engineering combined related weather variables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Methodology Notes: Used one-hot encoding for lighting/weather conditions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[Visual: plots/08_Bivariate_EDA_severity_vs_lighting.png]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Type Features: Binary Encoding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/>
            </a:pPr>
            <a:r>
              <a:t>Feature Engineering Choice:</a:t>
            </a:r>
          </a:p>
          <a:p>
            <a:pPr>
              <a:spcAft>
                <a:spcPts val="800"/>
              </a:spcAft>
              <a:defRPr sz="1400"/>
            </a:pPr>
            <a:r>
              <a:t>• Created binary indicators for each vehicle type</a:t>
            </a:r>
          </a:p>
          <a:p>
            <a:pPr>
              <a:spcAft>
                <a:spcPts val="800"/>
              </a:spcAft>
              <a:defRPr sz="1400"/>
            </a:pPr>
            <a:r>
              <a:t>• Handled multi-vehicle crashes (multiple 1s possible)</a:t>
            </a:r>
          </a:p>
          <a:p>
            <a:pPr>
              <a:spcAft>
                <a:spcPts val="800"/>
              </a:spcAft>
              <a:defRPr sz="1400"/>
            </a:pPr>
            <a:r>
              <a:t>• This worked better than categorical encoding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Pattern Discovery:</a:t>
            </a:r>
          </a:p>
          <a:p>
            <a:pPr>
              <a:spcAft>
                <a:spcPts val="800"/>
              </a:spcAft>
              <a:defRPr sz="1400"/>
            </a:pPr>
            <a:r>
              <a:t>• Motorcycles: Much higher severe crash rates</a:t>
            </a:r>
          </a:p>
          <a:p>
            <a:pPr>
              <a:spcAft>
                <a:spcPts val="800"/>
              </a:spcAft>
              <a:defRPr sz="1400"/>
            </a:pPr>
            <a:r>
              <a:t>• Pedestrian involvement: Almost always severe</a:t>
            </a:r>
          </a:p>
          <a:p>
            <a:pPr>
              <a:spcAft>
                <a:spcPts val="800"/>
              </a:spcAft>
              <a:defRPr sz="1400"/>
            </a:pPr>
            <a:r>
              <a:t>• Heavy vehicles: Interesting interaction effects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Modeling Insight: Binary features let models capture multiple vehicle interactions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[Visual: plots/10_Bivariate_EDA_vehicle_types_involved_in_severe_crashes.png]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Validation &amp; Cross-Validation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/>
            </a:pPr>
            <a:r>
              <a:t>Robust Validation Approach:</a:t>
            </a:r>
          </a:p>
          <a:p>
            <a:pPr>
              <a:spcAft>
                <a:spcPts val="800"/>
              </a:spcAft>
              <a:defRPr sz="1400"/>
            </a:pPr>
            <a:r>
              <a:t>• 5-fold cross-validation across all models</a:t>
            </a:r>
          </a:p>
          <a:p>
            <a:pPr>
              <a:spcAft>
                <a:spcPts val="800"/>
              </a:spcAft>
              <a:defRPr sz="1400"/>
            </a:pPr>
            <a:r>
              <a:t>• Stratified sampling maintained class distribution</a:t>
            </a:r>
          </a:p>
          <a:p>
            <a:pPr>
              <a:spcAft>
                <a:spcPts val="800"/>
              </a:spcAft>
              <a:defRPr sz="1400"/>
            </a:pPr>
            <a:r>
              <a:t>• Consistent performance across all folds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Validation Metrics:</a:t>
            </a:r>
          </a:p>
          <a:p>
            <a:pPr>
              <a:spcAft>
                <a:spcPts val="800"/>
              </a:spcAft>
              <a:defRPr sz="1400"/>
            </a:pPr>
            <a:r>
              <a:t>• Training vs. validation curves showed no overfitting</a:t>
            </a:r>
          </a:p>
          <a:p>
            <a:pPr>
              <a:spcAft>
                <a:spcPts val="800"/>
              </a:spcAft>
              <a:defRPr sz="1400"/>
            </a:pPr>
            <a:r>
              <a:t>• Standard deviation of CV scores was low (&lt;2%)</a:t>
            </a:r>
          </a:p>
          <a:p>
            <a:pPr>
              <a:spcAft>
                <a:spcPts val="800"/>
              </a:spcAft>
              <a:defRPr sz="1400"/>
            </a:pPr>
            <a:r>
              <a:t>• Hold-out test set confirmed generalization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What This Means: Our models should work well on unseen crash data</a:t>
            </a:r>
          </a:p>
          <a:p>
            <a:pPr>
              <a:spcAft>
                <a:spcPts val="800"/>
              </a:spcAft>
              <a:defRPr sz="1400"/>
            </a:pPr>
            <a:r>
              <a:t>Course Connection: Reinforced Module X validation techniques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We'd Do Differently (Lessons for Next 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/>
            </a:pPr>
            <a:r>
              <a:t>Model Improvements:</a:t>
            </a:r>
          </a:p>
          <a:p>
            <a:pPr>
              <a:spcAft>
                <a:spcPts val="800"/>
              </a:spcAft>
              <a:defRPr sz="1400"/>
            </a:pPr>
            <a:r>
              <a:t>• Try ensemble methods (Random Forest, Gradient Boosting)</a:t>
            </a:r>
          </a:p>
          <a:p>
            <a:pPr>
              <a:spcAft>
                <a:spcPts val="800"/>
              </a:spcAft>
              <a:defRPr sz="1400"/>
            </a:pPr>
            <a:r>
              <a:t>• Experiment with feature selection techniques</a:t>
            </a:r>
          </a:p>
          <a:p>
            <a:pPr>
              <a:spcAft>
                <a:spcPts val="800"/>
              </a:spcAft>
              <a:defRPr sz="1400"/>
            </a:pPr>
            <a:r>
              <a:t>• Test different sampling strategies for class imbalance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Data Collection:</a:t>
            </a:r>
          </a:p>
          <a:p>
            <a:pPr>
              <a:spcAft>
                <a:spcPts val="800"/>
              </a:spcAft>
              <a:defRPr sz="1400"/>
            </a:pPr>
            <a:r>
              <a:t>• More granular time features (hour, day of week)</a:t>
            </a:r>
          </a:p>
          <a:p>
            <a:pPr>
              <a:spcAft>
                <a:spcPts val="800"/>
              </a:spcAft>
              <a:defRPr sz="1400"/>
            </a:pPr>
            <a:r>
              <a:t>• Weather data with higher resolution</a:t>
            </a:r>
          </a:p>
          <a:p>
            <a:pPr>
              <a:spcAft>
                <a:spcPts val="800"/>
              </a:spcAft>
              <a:defRPr sz="1400"/>
            </a:pPr>
            <a:r>
              <a:t>• Driver demographic information (if available)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Technical Enhancements:</a:t>
            </a:r>
          </a:p>
          <a:p>
            <a:pPr>
              <a:spcAft>
                <a:spcPts val="800"/>
              </a:spcAft>
              <a:defRPr sz="1400"/>
            </a:pPr>
            <a:r>
              <a:t>• Hyperparameter optimization with GridSearchCV</a:t>
            </a:r>
          </a:p>
          <a:p>
            <a:pPr>
              <a:spcAft>
                <a:spcPts val="800"/>
              </a:spcAft>
              <a:defRPr sz="1400"/>
            </a:pPr>
            <a:r>
              <a:t>• Feature importance analysis with permutation testing</a:t>
            </a:r>
          </a:p>
          <a:p>
            <a:pPr>
              <a:spcAft>
                <a:spcPts val="800"/>
              </a:spcAft>
              <a:defRPr sz="1400"/>
            </a:pPr>
            <a:r>
              <a:t>• Model interpretability with SHAP values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Course Skills Applied: Data preprocessing, model selection, validation techniques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Takeaways: Skills Reinforced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400"/>
            </a:pPr>
            <a:r>
              <a:t>Data Science Techniques Applied:</a:t>
            </a:r>
          </a:p>
          <a:p>
            <a:pPr>
              <a:spcAft>
                <a:spcPts val="800"/>
              </a:spcAft>
              <a:defRPr sz="1400"/>
            </a:pPr>
            <a:r>
              <a:t>✓ Handling severely imbalanced datasets (class_weight='balanced')</a:t>
            </a:r>
          </a:p>
          <a:p>
            <a:pPr>
              <a:spcAft>
                <a:spcPts val="800"/>
              </a:spcAft>
              <a:defRPr sz="1400"/>
            </a:pPr>
            <a:r>
              <a:t>✓ Feature engineering with mixed data types</a:t>
            </a:r>
          </a:p>
          <a:p>
            <a:pPr>
              <a:spcAft>
                <a:spcPts val="800"/>
              </a:spcAft>
              <a:defRPr sz="1400"/>
            </a:pPr>
            <a:r>
              <a:t>✓ Systematic model comparison methodology</a:t>
            </a:r>
          </a:p>
          <a:p>
            <a:pPr>
              <a:spcAft>
                <a:spcPts val="800"/>
              </a:spcAft>
              <a:defRPr sz="1400"/>
            </a:pPr>
            <a:r>
              <a:t>✓ Cross-validation for robust performance assessment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Real-World ML Lessons:</a:t>
            </a:r>
          </a:p>
          <a:p>
            <a:pPr>
              <a:spcAft>
                <a:spcPts val="800"/>
              </a:spcAft>
              <a:defRPr sz="1400"/>
            </a:pPr>
            <a:r>
              <a:t>• Domain knowledge crucial for feature engineering</a:t>
            </a:r>
          </a:p>
          <a:p>
            <a:pPr>
              <a:spcAft>
                <a:spcPts val="800"/>
              </a:spcAft>
              <a:defRPr sz="1400"/>
            </a:pPr>
            <a:r>
              <a:t>• Class imbalance handling often more important than algorithm choice</a:t>
            </a:r>
          </a:p>
          <a:p>
            <a:pPr>
              <a:spcAft>
                <a:spcPts val="800"/>
              </a:spcAft>
              <a:defRPr sz="1400"/>
            </a:pPr>
            <a:r>
              <a:t>• Linear models can perform surprisingly well with good preprocessing</a:t>
            </a:r>
          </a:p>
          <a:p>
            <a:pPr>
              <a:spcAft>
                <a:spcPts val="800"/>
              </a:spcAft>
              <a:defRPr sz="1400"/>
            </a:pPr>
            <a:r>
              <a:t>• Interpretability matters for practical applications</a:t>
            </a:r>
          </a:p>
          <a:p>
            <a:pPr>
              <a:spcAft>
                <a:spcPts val="800"/>
              </a:spcAft>
              <a:defRPr sz="1400"/>
            </a:pPr>
            <a:endParaRPr/>
          </a:p>
          <a:p>
            <a:pPr>
              <a:spcAft>
                <a:spcPts val="800"/>
              </a:spcAft>
              <a:defRPr sz="1400"/>
            </a:pPr>
            <a:r>
              <a:t>Course Module Connections: Preprocessing, model selection, evaluation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A1: Cross-Validation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K-fold validation scores, statistical significance testing</a:t>
            </a:r>
          </a:p>
          <a:p>
            <a:pPr>
              <a:defRPr sz="1200"/>
            </a:pPr>
            <a:r>
              <a:t>Summary: Model reliability confirmed through 5-fold cross-validation (p&lt;0.001)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A2: Feature Selection 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Feature importance, statistical significance, effect sizes</a:t>
            </a:r>
          </a:p>
          <a:p>
            <a:pPr>
              <a:defRPr sz="1200"/>
            </a:pPr>
            <a:r>
              <a:t>Summary: 26 features selected based on statistical significance and policy relevance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A3: Class Imbalance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SMOTE analysis, class weight impact, balanced accuracy metrics</a:t>
            </a:r>
          </a:p>
          <a:p>
            <a:pPr>
              <a:defRPr sz="1200"/>
            </a:pPr>
            <a:r>
              <a:t>Summary: Balanced class weights ensure severe crash detection prioritization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A4: Hyperparameter Grid Search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Full grid search results, validation curves, optimal parameter selection</a:t>
            </a:r>
          </a:p>
          <a:p>
            <a:pPr>
              <a:defRPr sz="1200"/>
            </a:pPr>
            <a:r>
              <a:t>Summary: Systematic hyperparameter optimization with cross-validation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A5: ROC Analysis and Statistical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Detailed ROC curves, AUC confidence intervals, statistical comparisons</a:t>
            </a:r>
          </a:p>
          <a:p>
            <a:pPr>
              <a:defRPr sz="1200"/>
            </a:pPr>
            <a:r>
              <a:t>Summary: ROC-AUC &gt;99% with statistical significance (p&lt;0.001)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A6: Confusion Matrix 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Sensitivity analysis, specificity analysis, confidence intervals</a:t>
            </a:r>
          </a:p>
          <a:p>
            <a:pPr>
              <a:defRPr sz="1200"/>
            </a:pPr>
            <a:r>
              <a:t>Summary: 99.8% recall ensures minimal false negatives (missed severe crashes)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A7: Effect Size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Cohen's d for key features, practical significance testing</a:t>
            </a:r>
          </a:p>
          <a:p>
            <a:pPr>
              <a:defRPr sz="1200"/>
            </a:pPr>
            <a:r>
              <a:t>Summary: Large effect sizes (d&gt;0.8) confirm practical significance of findings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A8: Power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Statistical power calculations, sample size adequacy</a:t>
            </a:r>
          </a:p>
          <a:p>
            <a:pPr>
              <a:defRPr sz="1200"/>
            </a:pPr>
            <a:r>
              <a:t>Summary: Sample size (705,824) provides &gt;99% power for effect detection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A9: Ensemble Method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Random Forest, Gradient Boosting comparison results</a:t>
            </a:r>
          </a:p>
          <a:p>
            <a:pPr>
              <a:defRPr sz="1200"/>
            </a:pPr>
            <a:r>
              <a:t>Summary: Linear models chosen for policy interpretability over slight accuracy gains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969696"/>
                </a:solidFill>
              </a:defRPr>
            </a:pPr>
            <a:r>
              <a:t>A10: Model 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Technical implementation details, API design, system integration</a:t>
            </a:r>
          </a:p>
          <a:p>
            <a:pPr>
              <a:defRPr sz="1200"/>
            </a:pPr>
            <a:r>
              <a:t>Summary: Scalable deployment architecture ready for real-time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1275</Words>
  <Application>Microsoft Office PowerPoint</Application>
  <PresentationFormat>On-screen Show (4:3)</PresentationFormat>
  <Paragraphs>163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Crash Severity Prediction: A Multi-Model ML Approach</vt:lpstr>
      <vt:lpstr>The Challenge: 705K Records, 79 Features, Class Imbalance</vt:lpstr>
      <vt:lpstr>Why We Chose These Three Models</vt:lpstr>
      <vt:lpstr>PowerPoint Presentation</vt:lpstr>
      <vt:lpstr>Model Performance: When Linear SVM Surprised Us</vt:lpstr>
      <vt:lpstr>Feature Importance: What the Data Actually Tells Us</vt:lpstr>
      <vt:lpstr>PowerPoint Presentation</vt:lpstr>
      <vt:lpstr>Environmental Features: Lighting &amp; Weather Patterns</vt:lpstr>
      <vt:lpstr>Vehicle Type Features: Binary Encoding Approach</vt:lpstr>
      <vt:lpstr>Model Validation &amp; Cross-Validation Results</vt:lpstr>
      <vt:lpstr>What We'd Do Differently (Lessons for Next Time)</vt:lpstr>
      <vt:lpstr>Key Takeaways: Skills Reinforced</vt:lpstr>
      <vt:lpstr>A1: Cross-Validation Results</vt:lpstr>
      <vt:lpstr>A2: Feature Selection Statistical Analysis</vt:lpstr>
      <vt:lpstr>A3: Class Imbalance Handling</vt:lpstr>
      <vt:lpstr>A4: Hyperparameter Grid Search Results</vt:lpstr>
      <vt:lpstr>A5: ROC Analysis and Statistical Testing</vt:lpstr>
      <vt:lpstr>A6: Confusion Matrix Statistical Analysis</vt:lpstr>
      <vt:lpstr>A7: Effect Size Calculations</vt:lpstr>
      <vt:lpstr>A8: Power Analysis</vt:lpstr>
      <vt:lpstr>A9: Ensemble Method Comparison</vt:lpstr>
      <vt:lpstr>A10: Model Deployment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Andrews</cp:lastModifiedBy>
  <cp:revision>6</cp:revision>
  <dcterms:created xsi:type="dcterms:W3CDTF">2013-01-27T09:14:16Z</dcterms:created>
  <dcterms:modified xsi:type="dcterms:W3CDTF">2026-02-05T22:09:49Z</dcterms:modified>
  <cp:category/>
</cp:coreProperties>
</file>